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9050000" cy="1301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8" y="-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CA147-A5AB-2D0C-8B64-C66B213EA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1250" y="2130411"/>
            <a:ext cx="14287500" cy="45320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EF2CC1-A2EA-E588-F5E5-9D0101790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6837204"/>
            <a:ext cx="14287500" cy="314288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17B5A-26A8-EC65-5403-244DD377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FCA02F-D8EA-FD00-0FDD-473F58F7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DCE8A-8001-9E38-F62A-9338629E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22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47D9F-A9E2-55EB-2693-BEA357A0E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9A0DE-560E-8BE7-4A6F-89421173E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8DB43-A54E-C53B-D5BF-03C826D6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E0952-2A97-DBF5-77EF-4F7CBD8B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1D227E-A436-9A6D-1FB4-4273D1C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7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14D2C3-5928-B135-2629-24B5DAFE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767" y="3245339"/>
            <a:ext cx="16430625" cy="54149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1CCF8-9A09-7985-AE20-F626E860E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9767" y="8711481"/>
            <a:ext cx="16430625" cy="284757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CBE1C-4F18-8533-9B60-D65AC549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564ED-A397-F0BB-006E-4E6B12CC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3EAF2-E6F5-2C80-2FD5-8795BA5A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61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AFBBE-7801-6EDD-F896-30755492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3CAC8-A453-AF89-525E-6665A5314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9688" y="3465306"/>
            <a:ext cx="8096250" cy="82594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66B1D7-722D-0E96-47B3-666305D83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4063" y="3465306"/>
            <a:ext cx="8096250" cy="82594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082B6B-9AC0-3006-8255-BCE1D1A7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ED483E-E67D-8627-14FD-718C7A37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03D835-B534-7513-66CF-1A656F44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55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681AB-3BF2-51C0-FCEE-B8BEDAC1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70" y="693064"/>
            <a:ext cx="16430625" cy="25161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D8BFF5-728F-5F20-A4A4-01CCDC79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2171" y="3191097"/>
            <a:ext cx="8059042" cy="1563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9E232C-96B6-7679-907C-6A28761D6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2171" y="4755007"/>
            <a:ext cx="8059042" cy="69938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8A2E75-03A2-1812-520D-64AE09940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644064" y="3191097"/>
            <a:ext cx="8098731" cy="1563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0405F9-EE48-3A29-5ABE-0774D960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644064" y="4755007"/>
            <a:ext cx="8098731" cy="69938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E8557-8340-50BA-2968-1F37F05C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70A7C7-EDEA-0704-D064-6FDC02AE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2BD310-74F7-F4B3-C133-D8EF92F7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2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123BE-868B-B4E1-9424-83C96190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2A7959-3E66-BA7F-E9DB-B2833CE1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97C8FF-F811-B41E-9A38-F62FFFD95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33757F-B615-5C30-62F5-FC3F1D3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67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576A1E-2B3C-D6E5-0C20-420379D8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43ED30-ADC4-C802-D72C-E444851F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604BA4-0061-94D7-689B-7FB6CF5E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49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778E4-6A01-9C04-7EDB-9149BF81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71" y="867833"/>
            <a:ext cx="6144120" cy="30374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A97388-9076-E910-84A3-FE0915C7F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732" y="1874281"/>
            <a:ext cx="9644063" cy="92508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B02AC6-429C-D687-BD37-BEEB324B3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2171" y="3905250"/>
            <a:ext cx="6144120" cy="72349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CDD3D-112A-33D9-DF3A-5FF32F13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84C273-0407-0BD0-67A9-E21BAD7A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C7AF43-6CA1-B8BA-AC86-FD314A23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50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75E52-1A10-3071-A0C5-1814E73AC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71" y="867833"/>
            <a:ext cx="6144120" cy="30374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5A2BF6-A7C9-5BE2-880A-4D260DE64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98732" y="1874281"/>
            <a:ext cx="9644063" cy="92508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933B21-1F93-D137-BD02-5971B4A41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2171" y="3905250"/>
            <a:ext cx="6144120" cy="72349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B77742-71CA-62BE-F27A-6A3B54DED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FD8BA9-2BFF-57D1-7D43-9FFE9D1F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F30F0-50CC-3D1F-1D8B-88FB34E0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6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04DA6-B315-21D1-0B6F-980C1AA5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BCA138-6896-979F-DD1E-985FDE332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31BB74-400C-2C34-BD46-BA601994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AD3B8-F521-92FF-DDCA-1D3AF74A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B9A8AF-C71A-8BB5-5C7E-D30434D0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39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188599-D1D5-0EAC-D34E-3ADA0DC7C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632656" y="693062"/>
            <a:ext cx="4107656" cy="11031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3DF6F-9907-81C5-3BC2-3DE3E9232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09687" y="693062"/>
            <a:ext cx="12084844" cy="11031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60A63-FD65-0A92-2317-A39EF809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4E49F-F81F-C356-CCAC-58E0CCAE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39231-D9FF-FC72-895D-C8CE1509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77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4A5B11-B4E5-31E6-539D-AF61C062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689" y="693064"/>
            <a:ext cx="16430625" cy="2516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F84586-6AB7-7C91-55BC-FE590DF77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9689" y="3465306"/>
            <a:ext cx="16430625" cy="8259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27E5A-4F43-9E36-E575-4BDCFBA09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09688" y="12065295"/>
            <a:ext cx="4286250" cy="693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3BD66-8442-4BBC-BEB9-BAA52742F94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70826-CFDB-76C8-7CA9-8CBB043C5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10314" y="12065295"/>
            <a:ext cx="6429375" cy="693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8D2B1-3828-DB12-5CAA-1E1791F6C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454063" y="12065295"/>
            <a:ext cx="4286250" cy="693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486A9-4CD0-4514-A644-A11939C45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32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B43C027-3588-18F9-D6EE-E3150199DE70}"/>
              </a:ext>
            </a:extLst>
          </p:cNvPr>
          <p:cNvSpPr/>
          <p:nvPr/>
        </p:nvSpPr>
        <p:spPr>
          <a:xfrm>
            <a:off x="76200" y="660400"/>
            <a:ext cx="3429000" cy="10223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8575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43E402D-5738-81C9-C79B-B75A24A5EC9E}"/>
              </a:ext>
            </a:extLst>
          </p:cNvPr>
          <p:cNvSpPr/>
          <p:nvPr/>
        </p:nvSpPr>
        <p:spPr>
          <a:xfrm>
            <a:off x="3657600" y="660400"/>
            <a:ext cx="5461000" cy="10223500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28575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1D6E439-4448-2BF7-7F72-FCC8E68E0FF0}"/>
              </a:ext>
            </a:extLst>
          </p:cNvPr>
          <p:cNvSpPr/>
          <p:nvPr/>
        </p:nvSpPr>
        <p:spPr>
          <a:xfrm>
            <a:off x="9271000" y="660400"/>
            <a:ext cx="4826000" cy="10223500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28575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428FF4-C74C-3303-8E43-E8D48708B7FA}"/>
              </a:ext>
            </a:extLst>
          </p:cNvPr>
          <p:cNvSpPr/>
          <p:nvPr/>
        </p:nvSpPr>
        <p:spPr>
          <a:xfrm>
            <a:off x="14249400" y="660400"/>
            <a:ext cx="4724400" cy="10223499"/>
          </a:xfrm>
          <a:prstGeom prst="roundRect">
            <a:avLst>
              <a:gd name="adj" fmla="val 3066"/>
            </a:avLst>
          </a:prstGeom>
          <a:solidFill>
            <a:srgbClr val="FFFFFF"/>
          </a:solidFill>
          <a:ln w="28575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635A76-2A10-D85A-204B-255C3D0D8119}"/>
              </a:ext>
            </a:extLst>
          </p:cNvPr>
          <p:cNvSpPr txBox="1"/>
          <p:nvPr/>
        </p:nvSpPr>
        <p:spPr>
          <a:xfrm>
            <a:off x="195580" y="781050"/>
            <a:ext cx="2974340" cy="7643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A. Inputs and Data Sources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308673-60F9-DE1D-921A-127126727313}"/>
              </a:ext>
            </a:extLst>
          </p:cNvPr>
          <p:cNvSpPr txBox="1"/>
          <p:nvPr/>
        </p:nvSpPr>
        <p:spPr>
          <a:xfrm>
            <a:off x="3853180" y="781050"/>
            <a:ext cx="5123180" cy="7643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B. </a:t>
            </a:r>
            <a:r>
              <a:rPr lang="en-US" altLang="zh-CN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DeepRSMA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multiview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backbone preserved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8E82A6-8D8F-B7EA-DDAC-DD67D42C54DB}"/>
              </a:ext>
            </a:extLst>
          </p:cNvPr>
          <p:cNvSpPr txBox="1"/>
          <p:nvPr/>
        </p:nvSpPr>
        <p:spPr>
          <a:xfrm>
            <a:off x="9525000" y="781050"/>
            <a:ext cx="5123180" cy="7643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C. Contact prediction </a:t>
            </a:r>
            <a:r>
              <a:rPr lang="en-US" altLang="zh-CN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andstructural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pretraining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6AEB657-C18B-5B00-EE4C-3FAAE77596C0}"/>
              </a:ext>
            </a:extLst>
          </p:cNvPr>
          <p:cNvSpPr/>
          <p:nvPr/>
        </p:nvSpPr>
        <p:spPr>
          <a:xfrm>
            <a:off x="303530" y="1783603"/>
            <a:ext cx="2974340" cy="4725147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A8BD22C-5043-8C6F-3D5D-18FE5B1BEEA8}"/>
              </a:ext>
            </a:extLst>
          </p:cNvPr>
          <p:cNvSpPr txBox="1"/>
          <p:nvPr/>
        </p:nvSpPr>
        <p:spPr>
          <a:xfrm>
            <a:off x="14475460" y="781050"/>
            <a:ext cx="4378960" cy="7643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D. Structural Contact </a:t>
            </a:r>
            <a:r>
              <a:rPr lang="en-US" altLang="zh-CN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Adapterfor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affinity prediction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7BBA7B-D7EA-DD27-4A1B-3041D69255C5}"/>
              </a:ext>
            </a:extLst>
          </p:cNvPr>
          <p:cNvSpPr/>
          <p:nvPr/>
        </p:nvSpPr>
        <p:spPr>
          <a:xfrm>
            <a:off x="303530" y="6746992"/>
            <a:ext cx="2974340" cy="3903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4E1A98C-0A37-6FA5-411E-58211BE55F00}"/>
              </a:ext>
            </a:extLst>
          </p:cNvPr>
          <p:cNvSpPr/>
          <p:nvPr/>
        </p:nvSpPr>
        <p:spPr>
          <a:xfrm>
            <a:off x="101600" y="11112500"/>
            <a:ext cx="8572500" cy="8890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28575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2000" b="1" dirty="0">
                <a:solidFill>
                  <a:srgbClr val="1E822D"/>
                </a:solidFill>
                <a:latin typeface="Arial" panose="020B0604020202020204" pitchFamily="34" charset="0"/>
              </a:rPr>
              <a:t>Stage 1: PDB contact pretraining</a:t>
            </a:r>
            <a:r>
              <a:rPr lang="en-US" altLang="zh-CN" sz="1500" b="1" dirty="0">
                <a:solidFill>
                  <a:srgbClr val="1E822D"/>
                </a:solidFill>
                <a:latin typeface="Arial" panose="020B0604020202020204" pitchFamily="34" charset="0"/>
              </a:rPr>
              <a:t>
Input: RNA-ligand complex   |   Output: contact map   |   Loss: </a:t>
            </a:r>
            <a:r>
              <a:rPr lang="en-US" altLang="zh-CN" sz="1500" b="1" dirty="0" err="1">
                <a:solidFill>
                  <a:srgbClr val="1E822D"/>
                </a:solidFill>
                <a:latin typeface="Arial" panose="020B0604020202020204" pitchFamily="34" charset="0"/>
              </a:rPr>
              <a:t>L_contact</a:t>
            </a:r>
            <a:endParaRPr lang="zh-CN" altLang="en-US" sz="1500" b="1" dirty="0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0AC8C27-58A4-0645-1850-0B34EDA61E41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8699500" y="11557000"/>
            <a:ext cx="571500" cy="0"/>
          </a:xfrm>
          <a:prstGeom prst="straightConnector1">
            <a:avLst/>
          </a:prstGeom>
          <a:ln w="28575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31DEE6-BA99-4884-7357-0ADC65D9A42D}"/>
              </a:ext>
            </a:extLst>
          </p:cNvPr>
          <p:cNvSpPr/>
          <p:nvPr/>
        </p:nvSpPr>
        <p:spPr>
          <a:xfrm>
            <a:off x="9271000" y="11112500"/>
            <a:ext cx="9702800" cy="889000"/>
          </a:xfrm>
          <a:prstGeom prst="roundRect">
            <a:avLst>
              <a:gd name="adj" fmla="val 8000"/>
            </a:avLst>
          </a:prstGeom>
          <a:solidFill>
            <a:srgbClr val="F6FAFF"/>
          </a:solidFill>
          <a:ln w="28575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2000" b="1" dirty="0">
                <a:solidFill>
                  <a:srgbClr val="1C52B4"/>
                </a:solidFill>
                <a:latin typeface="Arial" panose="020B0604020202020204" pitchFamily="34" charset="0"/>
              </a:rPr>
              <a:t>Stage 2: R-SIM affinity fine-tuning with SCA (affinity loss only)</a:t>
            </a:r>
            <a:r>
              <a:rPr lang="en-US" altLang="zh-CN" sz="1300" b="1" dirty="0">
                <a:solidFill>
                  <a:srgbClr val="1C52B4"/>
                </a:solidFill>
                <a:latin typeface="Arial" panose="020B0604020202020204" pitchFamily="34" charset="0"/>
              </a:rPr>
              <a:t>
Input: RNA sequence + ligand SMILES   |   Output: </a:t>
            </a:r>
            <a:r>
              <a:rPr lang="en-US" altLang="zh-CN" sz="1300" b="1" dirty="0" err="1">
                <a:solidFill>
                  <a:srgbClr val="1C52B4"/>
                </a:solidFill>
                <a:latin typeface="Arial" panose="020B0604020202020204" pitchFamily="34" charset="0"/>
              </a:rPr>
              <a:t>pKd</a:t>
            </a:r>
            <a:r>
              <a:rPr lang="en-US" altLang="zh-CN" sz="1300" b="1" dirty="0">
                <a:solidFill>
                  <a:srgbClr val="1C52B4"/>
                </a:solidFill>
                <a:latin typeface="Arial" panose="020B0604020202020204" pitchFamily="34" charset="0"/>
              </a:rPr>
              <a:t>   |   Loss: </a:t>
            </a:r>
            <a:r>
              <a:rPr lang="en-US" altLang="zh-CN" sz="1300" b="1" dirty="0" err="1">
                <a:solidFill>
                  <a:srgbClr val="1C52B4"/>
                </a:solidFill>
                <a:latin typeface="Arial" panose="020B0604020202020204" pitchFamily="34" charset="0"/>
              </a:rPr>
              <a:t>L_affinity</a:t>
            </a:r>
            <a:r>
              <a:rPr lang="en-US" altLang="zh-CN" sz="1300" b="1" dirty="0">
                <a:solidFill>
                  <a:srgbClr val="1C52B4"/>
                </a:solidFill>
                <a:latin typeface="Arial" panose="020B0604020202020204" pitchFamily="34" charset="0"/>
              </a:rPr>
              <a:t>
No contact labels required</a:t>
            </a:r>
            <a:endParaRPr lang="zh-CN" altLang="en-US" sz="1300" b="1" dirty="0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4F19C4B-1C19-EAF8-18B5-262CE51A8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09" y="2468218"/>
            <a:ext cx="2379381" cy="1784536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4E13D854-C42A-1AC7-C2FA-49CBC52F74B4}"/>
              </a:ext>
            </a:extLst>
          </p:cNvPr>
          <p:cNvSpPr txBox="1"/>
          <p:nvPr/>
        </p:nvSpPr>
        <p:spPr>
          <a:xfrm>
            <a:off x="303530" y="1888572"/>
            <a:ext cx="2974340" cy="57964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PDB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RNA-ligand complexes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C0AA966B-CEA4-1BBC-8D23-4C17C743CE02}"/>
              </a:ext>
            </a:extLst>
          </p:cNvPr>
          <p:cNvCxnSpPr>
            <a:cxnSpLocks/>
          </p:cNvCxnSpPr>
          <p:nvPr/>
        </p:nvCxnSpPr>
        <p:spPr>
          <a:xfrm>
            <a:off x="1721894" y="4153427"/>
            <a:ext cx="0" cy="545895"/>
          </a:xfrm>
          <a:prstGeom prst="straightConnector1">
            <a:avLst/>
          </a:prstGeom>
          <a:ln w="28575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36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_STRUCTRSMA_FIGURE1_MARKER" hidden="1">
            <a:extLst>
              <a:ext uri="{FF2B5EF4-FFF2-40B4-BE49-F238E27FC236}">
                <a16:creationId xmlns:a16="http://schemas.microsoft.com/office/drawing/2014/main" id="{3931B2A4-F32B-491B-144B-6CF483221C1B}"/>
              </a:ext>
            </a:extLst>
          </p:cNvPr>
          <p:cNvSpPr txBox="1"/>
          <p:nvPr/>
        </p:nvSpPr>
        <p:spPr>
          <a:xfrm>
            <a:off x="3429000" y="2317752"/>
            <a:ext cx="12700" cy="4103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endParaRPr lang="zh-CN" altLang="en-US" sz="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FE5C88-455E-AC56-8F92-3FCE6CB4C361}"/>
              </a:ext>
            </a:extLst>
          </p:cNvPr>
          <p:cNvSpPr txBox="1"/>
          <p:nvPr/>
        </p:nvSpPr>
        <p:spPr>
          <a:xfrm>
            <a:off x="6350000" y="2381252"/>
            <a:ext cx="635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</a:rPr>
              <a:t>Figure 1. Overall architecture of StructRSMA.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137B12-FE1A-3224-7000-07B0BB5F7CE7}"/>
              </a:ext>
            </a:extLst>
          </p:cNvPr>
          <p:cNvSpPr/>
          <p:nvPr/>
        </p:nvSpPr>
        <p:spPr>
          <a:xfrm>
            <a:off x="3530600" y="2825750"/>
            <a:ext cx="21590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32BE5B-C7C1-E0FA-283C-3D3FD89A59B0}"/>
              </a:ext>
            </a:extLst>
          </p:cNvPr>
          <p:cNvSpPr/>
          <p:nvPr/>
        </p:nvSpPr>
        <p:spPr>
          <a:xfrm>
            <a:off x="5778500" y="2825750"/>
            <a:ext cx="34290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5D8762-D66E-229C-D9E2-C356FA0F9F9F}"/>
              </a:ext>
            </a:extLst>
          </p:cNvPr>
          <p:cNvSpPr/>
          <p:nvPr/>
        </p:nvSpPr>
        <p:spPr>
          <a:xfrm>
            <a:off x="9296400" y="2825750"/>
            <a:ext cx="30480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4E94C2-9BE0-5E65-E59A-7C92A7A6E55D}"/>
              </a:ext>
            </a:extLst>
          </p:cNvPr>
          <p:cNvSpPr/>
          <p:nvPr/>
        </p:nvSpPr>
        <p:spPr>
          <a:xfrm>
            <a:off x="12446000" y="2825750"/>
            <a:ext cx="3073400" cy="6477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08DB5D-60F7-9DE9-AF41-873725BFAC3B}"/>
              </a:ext>
            </a:extLst>
          </p:cNvPr>
          <p:cNvSpPr txBox="1"/>
          <p:nvPr/>
        </p:nvSpPr>
        <p:spPr>
          <a:xfrm>
            <a:off x="3594100" y="2914650"/>
            <a:ext cx="2032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 b="1" dirty="0">
                <a:solidFill>
                  <a:srgbClr val="000000"/>
                </a:solidFill>
                <a:latin typeface="Arial" panose="020B0604020202020204" pitchFamily="34" charset="0"/>
              </a:rPr>
              <a:t>A. Inputs and data sources</a:t>
            </a:r>
            <a:endParaRPr lang="zh-CN" altLang="en-US" sz="10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FEE41B-D279-BEFE-DD8F-F0FCB9496905}"/>
              </a:ext>
            </a:extLst>
          </p:cNvPr>
          <p:cNvSpPr txBox="1"/>
          <p:nvPr/>
        </p:nvSpPr>
        <p:spPr>
          <a:xfrm>
            <a:off x="5842000" y="2914650"/>
            <a:ext cx="3302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B. DeepRSMA multiview backbone preserved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E88484-3FF5-0BC3-48E4-D1E4BF36AB18}"/>
              </a:ext>
            </a:extLst>
          </p:cNvPr>
          <p:cNvSpPr txBox="1"/>
          <p:nvPr/>
        </p:nvSpPr>
        <p:spPr>
          <a:xfrm>
            <a:off x="9359900" y="2914652"/>
            <a:ext cx="2921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0000"/>
                </a:solidFill>
                <a:latin typeface="Arial" panose="020B0604020202020204" pitchFamily="34" charset="0"/>
              </a:rPr>
              <a:t>C. </a:t>
            </a:r>
            <a:endParaRPr lang="zh-CN" altLang="en-US" sz="10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7CA1A-9EE2-8526-C5A0-750C5CA95954}"/>
              </a:ext>
            </a:extLst>
          </p:cNvPr>
          <p:cNvSpPr txBox="1"/>
          <p:nvPr/>
        </p:nvSpPr>
        <p:spPr>
          <a:xfrm>
            <a:off x="12509500" y="2914652"/>
            <a:ext cx="29464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D. Structural Contact Adapter
for affinity prediction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8F3C6B7-B624-7D42-5E28-62D0C3B44D4D}"/>
              </a:ext>
            </a:extLst>
          </p:cNvPr>
          <p:cNvSpPr/>
          <p:nvPr/>
        </p:nvSpPr>
        <p:spPr>
          <a:xfrm>
            <a:off x="3644900" y="3282950"/>
            <a:ext cx="1930400" cy="3302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1E822D"/>
                </a:solidFill>
                <a:latin typeface="Arial" panose="020B0604020202020204" pitchFamily="34" charset="0"/>
              </a:rPr>
              <a:t>PDB RNA-ligand complexes</a:t>
            </a:r>
            <a:endParaRPr lang="zh-CN" altLang="en-US" sz="10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94C8B0C-11CA-7864-E3F6-43DE0E7093A5}"/>
              </a:ext>
            </a:extLst>
          </p:cNvPr>
          <p:cNvCxnSpPr/>
          <p:nvPr/>
        </p:nvCxnSpPr>
        <p:spPr>
          <a:xfrm flipV="1">
            <a:off x="3937000" y="3968750"/>
            <a:ext cx="152400" cy="1524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B35DCC8-099A-C021-B2D3-08CEE6E92D57}"/>
              </a:ext>
            </a:extLst>
          </p:cNvPr>
          <p:cNvCxnSpPr/>
          <p:nvPr/>
        </p:nvCxnSpPr>
        <p:spPr>
          <a:xfrm flipV="1">
            <a:off x="4089400" y="3879850"/>
            <a:ext cx="165100" cy="889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1B35646-8A89-FB1E-32EF-59E00A749F22}"/>
              </a:ext>
            </a:extLst>
          </p:cNvPr>
          <p:cNvCxnSpPr/>
          <p:nvPr/>
        </p:nvCxnSpPr>
        <p:spPr>
          <a:xfrm>
            <a:off x="4254500" y="3879850"/>
            <a:ext cx="165100" cy="508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ACCDB1B-93C8-F3F9-A637-26964A472405}"/>
              </a:ext>
            </a:extLst>
          </p:cNvPr>
          <p:cNvCxnSpPr/>
          <p:nvPr/>
        </p:nvCxnSpPr>
        <p:spPr>
          <a:xfrm>
            <a:off x="4419600" y="3930650"/>
            <a:ext cx="152400" cy="1778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CA58509-7D50-701A-E8F3-2B795415D354}"/>
              </a:ext>
            </a:extLst>
          </p:cNvPr>
          <p:cNvCxnSpPr/>
          <p:nvPr/>
        </p:nvCxnSpPr>
        <p:spPr>
          <a:xfrm>
            <a:off x="4572000" y="4108450"/>
            <a:ext cx="152400" cy="1270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0E9D4A5-4D75-1242-47BB-5EC163FA5D4E}"/>
              </a:ext>
            </a:extLst>
          </p:cNvPr>
          <p:cNvCxnSpPr/>
          <p:nvPr/>
        </p:nvCxnSpPr>
        <p:spPr>
          <a:xfrm flipV="1">
            <a:off x="4724400" y="4146550"/>
            <a:ext cx="152400" cy="889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C41AFF0-EB8D-B6B9-4271-F383B0EAD2A7}"/>
              </a:ext>
            </a:extLst>
          </p:cNvPr>
          <p:cNvCxnSpPr/>
          <p:nvPr/>
        </p:nvCxnSpPr>
        <p:spPr>
          <a:xfrm flipV="1">
            <a:off x="4876800" y="3956050"/>
            <a:ext cx="177800" cy="1905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10C57C3-C739-3A25-3BFC-5B96B1FA6948}"/>
              </a:ext>
            </a:extLst>
          </p:cNvPr>
          <p:cNvCxnSpPr/>
          <p:nvPr/>
        </p:nvCxnSpPr>
        <p:spPr>
          <a:xfrm flipV="1">
            <a:off x="5054600" y="3892550"/>
            <a:ext cx="152400" cy="63500"/>
          </a:xfrm>
          <a:prstGeom prst="straightConnector1">
            <a:avLst/>
          </a:prstGeom>
          <a:ln w="26670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6BBA5298-6498-DF2C-4DFA-E60020D0A0B1}"/>
              </a:ext>
            </a:extLst>
          </p:cNvPr>
          <p:cNvSpPr/>
          <p:nvPr/>
        </p:nvSpPr>
        <p:spPr>
          <a:xfrm>
            <a:off x="3886200" y="40703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20CFFEB-19E9-5C73-1304-C9CACC07FBE9}"/>
              </a:ext>
            </a:extLst>
          </p:cNvPr>
          <p:cNvSpPr/>
          <p:nvPr/>
        </p:nvSpPr>
        <p:spPr>
          <a:xfrm>
            <a:off x="4203700" y="38290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4BB0F15-7611-904A-338F-375EE3AACE7B}"/>
              </a:ext>
            </a:extLst>
          </p:cNvPr>
          <p:cNvSpPr/>
          <p:nvPr/>
        </p:nvSpPr>
        <p:spPr>
          <a:xfrm>
            <a:off x="4521200" y="40576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2ED17A0-986F-CC3B-8692-6D704002DBF9}"/>
              </a:ext>
            </a:extLst>
          </p:cNvPr>
          <p:cNvSpPr/>
          <p:nvPr/>
        </p:nvSpPr>
        <p:spPr>
          <a:xfrm>
            <a:off x="4826000" y="40957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C159B61-F08E-768E-6B56-A9A73C549261}"/>
              </a:ext>
            </a:extLst>
          </p:cNvPr>
          <p:cNvSpPr/>
          <p:nvPr/>
        </p:nvSpPr>
        <p:spPr>
          <a:xfrm>
            <a:off x="5156200" y="3841750"/>
            <a:ext cx="101600" cy="10160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9A23736-826F-73C9-EE80-A1ABD1CA2E53}"/>
              </a:ext>
            </a:extLst>
          </p:cNvPr>
          <p:cNvCxnSpPr/>
          <p:nvPr/>
        </p:nvCxnSpPr>
        <p:spPr>
          <a:xfrm flipV="1">
            <a:off x="4711700" y="3905250"/>
            <a:ext cx="203200" cy="1397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C32452D-EBED-F5DB-C55F-3E67DE823AF5}"/>
              </a:ext>
            </a:extLst>
          </p:cNvPr>
          <p:cNvCxnSpPr/>
          <p:nvPr/>
        </p:nvCxnSpPr>
        <p:spPr>
          <a:xfrm>
            <a:off x="4914900" y="3905250"/>
            <a:ext cx="203200" cy="1143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90C18E8-65C1-7982-831E-973B32CB80F6}"/>
              </a:ext>
            </a:extLst>
          </p:cNvPr>
          <p:cNvCxnSpPr/>
          <p:nvPr/>
        </p:nvCxnSpPr>
        <p:spPr>
          <a:xfrm flipV="1">
            <a:off x="5118100" y="3892550"/>
            <a:ext cx="215900" cy="1270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F7744BB-4B5F-B2DB-EA61-9CAB5CDBC16D}"/>
              </a:ext>
            </a:extLst>
          </p:cNvPr>
          <p:cNvCxnSpPr/>
          <p:nvPr/>
        </p:nvCxnSpPr>
        <p:spPr>
          <a:xfrm>
            <a:off x="5334000" y="3892550"/>
            <a:ext cx="165100" cy="1778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10CF9E7-DD68-0EC1-EBB2-EFED60AF4D1C}"/>
              </a:ext>
            </a:extLst>
          </p:cNvPr>
          <p:cNvCxnSpPr/>
          <p:nvPr/>
        </p:nvCxnSpPr>
        <p:spPr>
          <a:xfrm>
            <a:off x="5118100" y="4019550"/>
            <a:ext cx="127000" cy="2159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F5B9BEB-CD0F-009F-57AE-BB6FCF0A3229}"/>
              </a:ext>
            </a:extLst>
          </p:cNvPr>
          <p:cNvCxnSpPr/>
          <p:nvPr/>
        </p:nvCxnSpPr>
        <p:spPr>
          <a:xfrm flipH="1">
            <a:off x="4991100" y="4235450"/>
            <a:ext cx="254000" cy="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A41407D-C3A3-34A2-B02A-B1CC32938A57}"/>
              </a:ext>
            </a:extLst>
          </p:cNvPr>
          <p:cNvCxnSpPr/>
          <p:nvPr/>
        </p:nvCxnSpPr>
        <p:spPr>
          <a:xfrm flipH="1" flipV="1">
            <a:off x="4711700" y="4044950"/>
            <a:ext cx="279400" cy="1905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43580AD3-5E36-601E-7513-942A33C29618}"/>
              </a:ext>
            </a:extLst>
          </p:cNvPr>
          <p:cNvSpPr/>
          <p:nvPr/>
        </p:nvSpPr>
        <p:spPr>
          <a:xfrm>
            <a:off x="4660900" y="39941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0D1738A7-0FBF-296C-24BA-E59A54FD08B4}"/>
              </a:ext>
            </a:extLst>
          </p:cNvPr>
          <p:cNvSpPr/>
          <p:nvPr/>
        </p:nvSpPr>
        <p:spPr>
          <a:xfrm>
            <a:off x="4864100" y="38544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39B2843-DFE7-389A-6F54-4F4B087006EC}"/>
              </a:ext>
            </a:extLst>
          </p:cNvPr>
          <p:cNvSpPr/>
          <p:nvPr/>
        </p:nvSpPr>
        <p:spPr>
          <a:xfrm>
            <a:off x="5067300" y="3968750"/>
            <a:ext cx="101600" cy="101600"/>
          </a:xfrm>
          <a:prstGeom prst="ellipse">
            <a:avLst/>
          </a:prstGeom>
          <a:solidFill>
            <a:srgbClr val="377DF0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6E0FF00-CCAF-119E-CB8B-F0516A81E1E7}"/>
              </a:ext>
            </a:extLst>
          </p:cNvPr>
          <p:cNvSpPr/>
          <p:nvPr/>
        </p:nvSpPr>
        <p:spPr>
          <a:xfrm>
            <a:off x="5283200" y="38417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C34C719-6EE5-947E-504D-8E37E7809BDD}"/>
              </a:ext>
            </a:extLst>
          </p:cNvPr>
          <p:cNvSpPr/>
          <p:nvPr/>
        </p:nvSpPr>
        <p:spPr>
          <a:xfrm>
            <a:off x="5448300" y="4019550"/>
            <a:ext cx="101600" cy="101600"/>
          </a:xfrm>
          <a:prstGeom prst="ellipse">
            <a:avLst/>
          </a:prstGeom>
          <a:solidFill>
            <a:srgbClr val="E63737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36E21AA-618A-82C0-4640-85B51C416D46}"/>
              </a:ext>
            </a:extLst>
          </p:cNvPr>
          <p:cNvSpPr/>
          <p:nvPr/>
        </p:nvSpPr>
        <p:spPr>
          <a:xfrm>
            <a:off x="5194300" y="41846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E96C3E74-1007-120C-834B-20B6A5B3D242}"/>
              </a:ext>
            </a:extLst>
          </p:cNvPr>
          <p:cNvSpPr/>
          <p:nvPr/>
        </p:nvSpPr>
        <p:spPr>
          <a:xfrm>
            <a:off x="4940300" y="41846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21130F9-733F-7AD6-22B1-2F27DA94EA5D}"/>
              </a:ext>
            </a:extLst>
          </p:cNvPr>
          <p:cNvSpPr txBox="1"/>
          <p:nvPr/>
        </p:nvSpPr>
        <p:spPr>
          <a:xfrm>
            <a:off x="3886200" y="4387852"/>
            <a:ext cx="14605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>
                <a:solidFill>
                  <a:srgbClr val="464646"/>
                </a:solidFill>
                <a:latin typeface="Arial" panose="020B0604020202020204" pitchFamily="34" charset="0"/>
              </a:rPr>
              <a:t>RNA 3D structure + ligand coordinates</a:t>
            </a:r>
            <a:endParaRPr lang="zh-CN" altLang="en-US" sz="8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96BBCA0-C78D-042B-EF5A-C91DDB8CD710}"/>
              </a:ext>
            </a:extLst>
          </p:cNvPr>
          <p:cNvCxnSpPr/>
          <p:nvPr/>
        </p:nvCxnSpPr>
        <p:spPr>
          <a:xfrm>
            <a:off x="4610100" y="4718050"/>
            <a:ext cx="0" cy="203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B5C489E1-E635-A99A-7988-DFBE4424B3B9}"/>
              </a:ext>
            </a:extLst>
          </p:cNvPr>
          <p:cNvSpPr txBox="1"/>
          <p:nvPr/>
        </p:nvSpPr>
        <p:spPr>
          <a:xfrm>
            <a:off x="4140200" y="4819652"/>
            <a:ext cx="9525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>
                <a:solidFill>
                  <a:srgbClr val="464646"/>
                </a:solidFill>
                <a:latin typeface="Arial" panose="020B0604020202020204" pitchFamily="34" charset="0"/>
              </a:rPr>
              <a:t>distance &lt; 4 A</a:t>
            </a:r>
            <a:endParaRPr lang="zh-CN" altLang="en-US" sz="8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32559F-6F10-8197-27BF-97378751548E}"/>
              </a:ext>
            </a:extLst>
          </p:cNvPr>
          <p:cNvSpPr/>
          <p:nvPr/>
        </p:nvSpPr>
        <p:spPr>
          <a:xfrm>
            <a:off x="41021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1864CDE-2DB5-7554-ED2F-6A6FA191D1CD}"/>
              </a:ext>
            </a:extLst>
          </p:cNvPr>
          <p:cNvSpPr/>
          <p:nvPr/>
        </p:nvSpPr>
        <p:spPr>
          <a:xfrm>
            <a:off x="4203700" y="50736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89A856-D217-74E8-EC60-EB35D76BD168}"/>
              </a:ext>
            </a:extLst>
          </p:cNvPr>
          <p:cNvSpPr/>
          <p:nvPr/>
        </p:nvSpPr>
        <p:spPr>
          <a:xfrm>
            <a:off x="43053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B692D91-FE18-33D2-BCC0-86F175F23C64}"/>
              </a:ext>
            </a:extLst>
          </p:cNvPr>
          <p:cNvSpPr/>
          <p:nvPr/>
        </p:nvSpPr>
        <p:spPr>
          <a:xfrm>
            <a:off x="44069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FB39FE3-A8AF-DE3F-DC7B-396D3DFC047B}"/>
              </a:ext>
            </a:extLst>
          </p:cNvPr>
          <p:cNvSpPr/>
          <p:nvPr/>
        </p:nvSpPr>
        <p:spPr>
          <a:xfrm>
            <a:off x="45085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57F842C-3AF9-BCFD-5B8A-292C4D40C8B4}"/>
              </a:ext>
            </a:extLst>
          </p:cNvPr>
          <p:cNvSpPr/>
          <p:nvPr/>
        </p:nvSpPr>
        <p:spPr>
          <a:xfrm>
            <a:off x="4610100" y="50736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43DD24F-365D-7D9A-2FD2-743EF8D83B18}"/>
              </a:ext>
            </a:extLst>
          </p:cNvPr>
          <p:cNvSpPr/>
          <p:nvPr/>
        </p:nvSpPr>
        <p:spPr>
          <a:xfrm>
            <a:off x="41021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3DC4943-50BE-4FBA-5E4A-925431F72478}"/>
              </a:ext>
            </a:extLst>
          </p:cNvPr>
          <p:cNvSpPr/>
          <p:nvPr/>
        </p:nvSpPr>
        <p:spPr>
          <a:xfrm>
            <a:off x="42037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6C96069-3A75-54CB-EEF4-79B417379567}"/>
              </a:ext>
            </a:extLst>
          </p:cNvPr>
          <p:cNvSpPr/>
          <p:nvPr/>
        </p:nvSpPr>
        <p:spPr>
          <a:xfrm>
            <a:off x="4305300" y="51752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12756A5-F24F-4E62-49C0-BCB9E9CEB084}"/>
              </a:ext>
            </a:extLst>
          </p:cNvPr>
          <p:cNvSpPr/>
          <p:nvPr/>
        </p:nvSpPr>
        <p:spPr>
          <a:xfrm>
            <a:off x="44069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85B910-3984-2E30-CEA1-8591B6AC99C6}"/>
              </a:ext>
            </a:extLst>
          </p:cNvPr>
          <p:cNvSpPr/>
          <p:nvPr/>
        </p:nvSpPr>
        <p:spPr>
          <a:xfrm>
            <a:off x="45085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048B4BD-A0AB-81E9-896F-2650940C7C87}"/>
              </a:ext>
            </a:extLst>
          </p:cNvPr>
          <p:cNvSpPr/>
          <p:nvPr/>
        </p:nvSpPr>
        <p:spPr>
          <a:xfrm>
            <a:off x="4610100" y="51752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A2C4864-8DFD-7821-5A44-1E87E3864C11}"/>
              </a:ext>
            </a:extLst>
          </p:cNvPr>
          <p:cNvSpPr/>
          <p:nvPr/>
        </p:nvSpPr>
        <p:spPr>
          <a:xfrm>
            <a:off x="41021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E6F39B7-9D55-9515-D21F-FEE218E4FAF5}"/>
              </a:ext>
            </a:extLst>
          </p:cNvPr>
          <p:cNvSpPr/>
          <p:nvPr/>
        </p:nvSpPr>
        <p:spPr>
          <a:xfrm>
            <a:off x="42037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1C848E-1E04-9D4C-148F-CBA51C18D1EC}"/>
              </a:ext>
            </a:extLst>
          </p:cNvPr>
          <p:cNvSpPr/>
          <p:nvPr/>
        </p:nvSpPr>
        <p:spPr>
          <a:xfrm>
            <a:off x="4305300" y="52768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1BC38E7-E944-A0BF-6C3C-F949C39E35F3}"/>
              </a:ext>
            </a:extLst>
          </p:cNvPr>
          <p:cNvSpPr/>
          <p:nvPr/>
        </p:nvSpPr>
        <p:spPr>
          <a:xfrm>
            <a:off x="44069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23E94A8-AF39-D357-F450-3C7FE2DF29CA}"/>
              </a:ext>
            </a:extLst>
          </p:cNvPr>
          <p:cNvSpPr/>
          <p:nvPr/>
        </p:nvSpPr>
        <p:spPr>
          <a:xfrm>
            <a:off x="45085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47DB4FE-71E6-6CAE-0458-01900E00CD95}"/>
              </a:ext>
            </a:extLst>
          </p:cNvPr>
          <p:cNvSpPr/>
          <p:nvPr/>
        </p:nvSpPr>
        <p:spPr>
          <a:xfrm>
            <a:off x="4610100" y="52768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3DCFA87-731A-13B6-7A98-430B78AC5CAB}"/>
              </a:ext>
            </a:extLst>
          </p:cNvPr>
          <p:cNvSpPr/>
          <p:nvPr/>
        </p:nvSpPr>
        <p:spPr>
          <a:xfrm>
            <a:off x="41021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69AB825-2C03-F4D5-AFE6-890AD65DCEF8}"/>
              </a:ext>
            </a:extLst>
          </p:cNvPr>
          <p:cNvSpPr/>
          <p:nvPr/>
        </p:nvSpPr>
        <p:spPr>
          <a:xfrm>
            <a:off x="42037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534659D-F8B6-CC3A-389C-0CBE9AF6F1AD}"/>
              </a:ext>
            </a:extLst>
          </p:cNvPr>
          <p:cNvSpPr/>
          <p:nvPr/>
        </p:nvSpPr>
        <p:spPr>
          <a:xfrm>
            <a:off x="43053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44C60F6-83E7-3F9F-4817-058C3BD57664}"/>
              </a:ext>
            </a:extLst>
          </p:cNvPr>
          <p:cNvSpPr/>
          <p:nvPr/>
        </p:nvSpPr>
        <p:spPr>
          <a:xfrm>
            <a:off x="4406900" y="53784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B391252-2485-CF58-C330-05BDE61FD657}"/>
              </a:ext>
            </a:extLst>
          </p:cNvPr>
          <p:cNvSpPr/>
          <p:nvPr/>
        </p:nvSpPr>
        <p:spPr>
          <a:xfrm>
            <a:off x="45085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5C07D43-BF91-D96C-4A2A-1E0EFF122E04}"/>
              </a:ext>
            </a:extLst>
          </p:cNvPr>
          <p:cNvSpPr/>
          <p:nvPr/>
        </p:nvSpPr>
        <p:spPr>
          <a:xfrm>
            <a:off x="4610100" y="53784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32C7F6A-263C-8630-8A19-7D7081DACBD6}"/>
              </a:ext>
            </a:extLst>
          </p:cNvPr>
          <p:cNvSpPr/>
          <p:nvPr/>
        </p:nvSpPr>
        <p:spPr>
          <a:xfrm>
            <a:off x="41021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E0F7E70-E16F-0DE6-0681-BF36FB078B14}"/>
              </a:ext>
            </a:extLst>
          </p:cNvPr>
          <p:cNvSpPr/>
          <p:nvPr/>
        </p:nvSpPr>
        <p:spPr>
          <a:xfrm>
            <a:off x="42037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020DA6A-04A7-4C43-5381-D1C8107FCBBD}"/>
              </a:ext>
            </a:extLst>
          </p:cNvPr>
          <p:cNvSpPr/>
          <p:nvPr/>
        </p:nvSpPr>
        <p:spPr>
          <a:xfrm>
            <a:off x="43053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A98562B-3C68-BC79-9A23-5964C6850086}"/>
              </a:ext>
            </a:extLst>
          </p:cNvPr>
          <p:cNvSpPr/>
          <p:nvPr/>
        </p:nvSpPr>
        <p:spPr>
          <a:xfrm>
            <a:off x="4406900" y="54800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E5720DB-3639-5C2D-A0C1-5D961162874D}"/>
              </a:ext>
            </a:extLst>
          </p:cNvPr>
          <p:cNvSpPr/>
          <p:nvPr/>
        </p:nvSpPr>
        <p:spPr>
          <a:xfrm>
            <a:off x="45085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FAF5B64-15C6-6F51-E891-3DF6B24EE629}"/>
              </a:ext>
            </a:extLst>
          </p:cNvPr>
          <p:cNvSpPr/>
          <p:nvPr/>
        </p:nvSpPr>
        <p:spPr>
          <a:xfrm>
            <a:off x="4610100" y="54800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90C07A03-25F0-743F-8F11-DBA05D72E910}"/>
              </a:ext>
            </a:extLst>
          </p:cNvPr>
          <p:cNvSpPr/>
          <p:nvPr/>
        </p:nvSpPr>
        <p:spPr>
          <a:xfrm>
            <a:off x="4000500" y="5111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E1764707-AFAB-A426-D53F-3CA1B7901311}"/>
              </a:ext>
            </a:extLst>
          </p:cNvPr>
          <p:cNvSpPr/>
          <p:nvPr/>
        </p:nvSpPr>
        <p:spPr>
          <a:xfrm>
            <a:off x="4000500" y="52133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1172B7E5-05B9-404C-D2BD-CB68636A326B}"/>
              </a:ext>
            </a:extLst>
          </p:cNvPr>
          <p:cNvSpPr/>
          <p:nvPr/>
        </p:nvSpPr>
        <p:spPr>
          <a:xfrm>
            <a:off x="4000500" y="53149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A6F9EE41-C4D4-93C3-D1DD-7ACCC0F6311D}"/>
              </a:ext>
            </a:extLst>
          </p:cNvPr>
          <p:cNvSpPr/>
          <p:nvPr/>
        </p:nvSpPr>
        <p:spPr>
          <a:xfrm>
            <a:off x="4000500" y="54165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0CB604C8-CAD3-D080-13A5-4775F0AB913E}"/>
              </a:ext>
            </a:extLst>
          </p:cNvPr>
          <p:cNvSpPr/>
          <p:nvPr/>
        </p:nvSpPr>
        <p:spPr>
          <a:xfrm>
            <a:off x="41529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7C901B8E-0763-9DEC-9764-64962401F3A0}"/>
              </a:ext>
            </a:extLst>
          </p:cNvPr>
          <p:cNvSpPr/>
          <p:nvPr/>
        </p:nvSpPr>
        <p:spPr>
          <a:xfrm>
            <a:off x="42545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3242C326-5570-986E-8D9D-38E8EE351579}"/>
              </a:ext>
            </a:extLst>
          </p:cNvPr>
          <p:cNvSpPr/>
          <p:nvPr/>
        </p:nvSpPr>
        <p:spPr>
          <a:xfrm>
            <a:off x="43561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9C17FEFC-B66A-569C-EE56-A17C8441C843}"/>
              </a:ext>
            </a:extLst>
          </p:cNvPr>
          <p:cNvSpPr/>
          <p:nvPr/>
        </p:nvSpPr>
        <p:spPr>
          <a:xfrm>
            <a:off x="44577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E0ADB55-8BDF-ED8C-FA33-EF0B46238629}"/>
              </a:ext>
            </a:extLst>
          </p:cNvPr>
          <p:cNvSpPr txBox="1"/>
          <p:nvPr/>
        </p:nvSpPr>
        <p:spPr>
          <a:xfrm>
            <a:off x="4749800" y="5060952"/>
            <a:ext cx="8636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Contact map C in {0,1}^{p x q}
rows = RNA nucleotides
columns = ligand atoms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BB4B535D-DFFC-111D-0AE5-BAF754C5C329}"/>
              </a:ext>
            </a:extLst>
          </p:cNvPr>
          <p:cNvSpPr/>
          <p:nvPr/>
        </p:nvSpPr>
        <p:spPr>
          <a:xfrm>
            <a:off x="3759200" y="6076950"/>
            <a:ext cx="1676400" cy="4572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822D"/>
                </a:solidFill>
                <a:latin typeface="Arial" panose="020B0604020202020204" pitchFamily="34" charset="0"/>
              </a:rPr>
              <a:t>Structure supervision
from PDB complexes</a:t>
            </a:r>
            <a:endParaRPr lang="zh-CN" altLang="en-US" sz="8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81BA4BA9-63E4-3754-F752-4C04E1F53FAD}"/>
              </a:ext>
            </a:extLst>
          </p:cNvPr>
          <p:cNvSpPr/>
          <p:nvPr/>
        </p:nvSpPr>
        <p:spPr>
          <a:xfrm>
            <a:off x="3644900" y="6788150"/>
            <a:ext cx="1930400" cy="304800"/>
          </a:xfrm>
          <a:prstGeom prst="roundRect">
            <a:avLst/>
          </a:prstGeom>
          <a:solidFill>
            <a:srgbClr val="EEF5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1E52B4"/>
                </a:solidFill>
                <a:latin typeface="Arial" panose="020B0604020202020204" pitchFamily="34" charset="0"/>
              </a:rPr>
              <a:t>R-SIM affinity dataset</a:t>
            </a:r>
            <a:endParaRPr lang="zh-CN" altLang="en-US" sz="10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A6AA10B-59A1-E011-7228-D7A00502F5BF}"/>
              </a:ext>
            </a:extLst>
          </p:cNvPr>
          <p:cNvSpPr txBox="1"/>
          <p:nvPr/>
        </p:nvSpPr>
        <p:spPr>
          <a:xfrm>
            <a:off x="3860800" y="7194552"/>
            <a:ext cx="1016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</a:rPr>
              <a:t>RNA sequence</a:t>
            </a:r>
            <a:endParaRPr lang="zh-CN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A6C29039-0030-6C11-8917-ACB6B67B2666}"/>
              </a:ext>
            </a:extLst>
          </p:cNvPr>
          <p:cNvSpPr/>
          <p:nvPr/>
        </p:nvSpPr>
        <p:spPr>
          <a:xfrm>
            <a:off x="3886200" y="7385050"/>
            <a:ext cx="1092200" cy="228600"/>
          </a:xfrm>
          <a:prstGeom prst="roundRect">
            <a:avLst/>
          </a:prstGeom>
          <a:solidFill>
            <a:srgbClr val="F6FA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A   U   G   C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431A699-117D-AFB7-51C9-5CD1CC66C8DE}"/>
              </a:ext>
            </a:extLst>
          </p:cNvPr>
          <p:cNvSpPr txBox="1"/>
          <p:nvPr/>
        </p:nvSpPr>
        <p:spPr>
          <a:xfrm>
            <a:off x="3860800" y="7664452"/>
            <a:ext cx="1016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</a:rPr>
              <a:t>Ligand SMILES</a:t>
            </a:r>
            <a:endParaRPr lang="zh-CN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21B48A3-2582-1D88-10FA-F825B42572B8}"/>
              </a:ext>
            </a:extLst>
          </p:cNvPr>
          <p:cNvSpPr/>
          <p:nvPr/>
        </p:nvSpPr>
        <p:spPr>
          <a:xfrm>
            <a:off x="3886200" y="7854950"/>
            <a:ext cx="1244600" cy="228600"/>
          </a:xfrm>
          <a:prstGeom prst="roundRect">
            <a:avLst/>
          </a:prstGeom>
          <a:solidFill>
            <a:srgbClr val="F6FA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>
                <a:solidFill>
                  <a:srgbClr val="1E52B4"/>
                </a:solidFill>
                <a:latin typeface="Arial" panose="020B0604020202020204" pitchFamily="34" charset="0"/>
              </a:rPr>
              <a:t>SMILES: CCO...</a:t>
            </a:r>
            <a:endParaRPr lang="zh-CN" altLang="en-US" sz="800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A835E7D-8B79-9FEF-F072-EFD0642E306C}"/>
              </a:ext>
            </a:extLst>
          </p:cNvPr>
          <p:cNvSpPr txBox="1"/>
          <p:nvPr/>
        </p:nvSpPr>
        <p:spPr>
          <a:xfrm>
            <a:off x="3886200" y="814705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pKd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C9B36B1B-09B8-038F-CE34-7B6D7893532B}"/>
              </a:ext>
            </a:extLst>
          </p:cNvPr>
          <p:cNvSpPr/>
          <p:nvPr/>
        </p:nvSpPr>
        <p:spPr>
          <a:xfrm>
            <a:off x="3848100" y="8439150"/>
            <a:ext cx="1549400" cy="431800"/>
          </a:xfrm>
          <a:prstGeom prst="roundRect">
            <a:avLst/>
          </a:prstGeom>
          <a:solidFill>
            <a:srgbClr val="F4F8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Affinity supervision
from R-SIM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FE433ED-13A6-8428-5C30-C8274045568D}"/>
              </a:ext>
            </a:extLst>
          </p:cNvPr>
          <p:cNvSpPr txBox="1"/>
          <p:nvPr/>
        </p:nvSpPr>
        <p:spPr>
          <a:xfrm>
            <a:off x="6667500" y="3181352"/>
            <a:ext cx="1778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Original DeepRSMA backbone preserved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F74E7D0-FA75-74D5-EEAC-A1689CF31496}"/>
              </a:ext>
            </a:extLst>
          </p:cNvPr>
          <p:cNvSpPr txBox="1"/>
          <p:nvPr/>
        </p:nvSpPr>
        <p:spPr>
          <a:xfrm>
            <a:off x="6515100" y="3397252"/>
            <a:ext cx="9525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RNA side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2F297D2-469E-53EC-52CA-E9E6ADF6E5CC}"/>
              </a:ext>
            </a:extLst>
          </p:cNvPr>
          <p:cNvSpPr txBox="1"/>
          <p:nvPr/>
        </p:nvSpPr>
        <p:spPr>
          <a:xfrm>
            <a:off x="8001000" y="3397252"/>
            <a:ext cx="9525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06414"/>
                </a:solidFill>
                <a:latin typeface="Arial" panose="020B0604020202020204" pitchFamily="34" charset="0"/>
              </a:rPr>
              <a:t>Ligand side</a:t>
            </a:r>
            <a:endParaRPr lang="zh-CN" altLang="en-US" sz="800" b="1">
              <a:solidFill>
                <a:srgbClr val="F06414"/>
              </a:solidFill>
              <a:latin typeface="Arial" panose="020B0604020202020204" pitchFamily="34" charset="0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53AF5BA-B146-4303-B89F-DD18EF3E5989}"/>
              </a:ext>
            </a:extLst>
          </p:cNvPr>
          <p:cNvSpPr/>
          <p:nvPr/>
        </p:nvSpPr>
        <p:spPr>
          <a:xfrm>
            <a:off x="6007100" y="3625850"/>
            <a:ext cx="1460500" cy="1168400"/>
          </a:xfrm>
          <a:prstGeom prst="roundRect">
            <a:avLst/>
          </a:prstGeom>
          <a:solidFill>
            <a:srgbClr val="EEF5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RNA sequence branch
RNA sequence
A   U   G   C
RNA sequence encoder
H_RS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86B05BD-3D5D-F19E-37C8-3CCD71126CCA}"/>
              </a:ext>
            </a:extLst>
          </p:cNvPr>
          <p:cNvSpPr/>
          <p:nvPr/>
        </p:nvSpPr>
        <p:spPr>
          <a:xfrm>
            <a:off x="6007100" y="4908550"/>
            <a:ext cx="1460500" cy="1168400"/>
          </a:xfrm>
          <a:prstGeom prst="roundRect">
            <a:avLst/>
          </a:prstGeom>
          <a:solidFill>
            <a:srgbClr val="EBFDFD"/>
          </a:solidFill>
          <a:ln w="13970"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491A0"/>
                </a:solidFill>
                <a:latin typeface="Arial" panose="020B0604020202020204" pitchFamily="34" charset="0"/>
              </a:rPr>
              <a:t>RNA graph branch
RNA secondary/contact graph
RNA graph encoder
H_RG</a:t>
            </a:r>
            <a:endParaRPr lang="zh-CN" altLang="en-US" sz="800" b="1">
              <a:solidFill>
                <a:srgbClr val="1491A0"/>
              </a:solidFill>
              <a:latin typeface="Arial" panose="020B0604020202020204" pitchFamily="34" charset="0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00D5C98B-E618-565D-F09C-D9D4E76AA835}"/>
              </a:ext>
            </a:extLst>
          </p:cNvPr>
          <p:cNvSpPr/>
          <p:nvPr/>
        </p:nvSpPr>
        <p:spPr>
          <a:xfrm>
            <a:off x="7696200" y="3625850"/>
            <a:ext cx="1460500" cy="1168400"/>
          </a:xfrm>
          <a:prstGeom prst="roundRect">
            <a:avLst/>
          </a:prstGeom>
          <a:solidFill>
            <a:srgbClr val="FFF6EB"/>
          </a:solidFill>
          <a:ln w="13970"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F06414"/>
                </a:solidFill>
                <a:latin typeface="Arial" panose="020B0604020202020204" pitchFamily="34" charset="0"/>
              </a:rPr>
              <a:t>Molecule sequence branch
Ligand SMILES
SMILES: CCO...
Molecule sequence encoder
H_MS</a:t>
            </a:r>
            <a:endParaRPr lang="zh-CN" altLang="en-US" sz="800" b="1">
              <a:solidFill>
                <a:srgbClr val="F06414"/>
              </a:solidFill>
              <a:latin typeface="Arial" panose="020B0604020202020204" pitchFamily="34" charset="0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D40C19E5-5BEC-A887-E00B-A49F9122D1F7}"/>
              </a:ext>
            </a:extLst>
          </p:cNvPr>
          <p:cNvSpPr/>
          <p:nvPr/>
        </p:nvSpPr>
        <p:spPr>
          <a:xfrm>
            <a:off x="7696200" y="4908550"/>
            <a:ext cx="1460500" cy="1168400"/>
          </a:xfrm>
          <a:prstGeom prst="roundRect">
            <a:avLst/>
          </a:prstGeom>
          <a:solidFill>
            <a:srgbClr val="FFEFEF"/>
          </a:solidFill>
          <a:ln w="13970"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D22D2D"/>
                </a:solidFill>
                <a:latin typeface="Arial" panose="020B0604020202020204" pitchFamily="34" charset="0"/>
              </a:rPr>
              <a:t>Molecule graph branch
Molecular graph
Molecule graph encoder
H_MG</a:t>
            </a:r>
            <a:endParaRPr lang="zh-CN" altLang="en-US" sz="8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F770FEA-F5FD-23E6-E639-60316432881E}"/>
              </a:ext>
            </a:extLst>
          </p:cNvPr>
          <p:cNvCxnSpPr/>
          <p:nvPr/>
        </p:nvCxnSpPr>
        <p:spPr>
          <a:xfrm flipV="1">
            <a:off x="8128000" y="5289550"/>
            <a:ext cx="203200" cy="1397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BD3A23C1-7C11-3315-D5EE-BFE0EADC4AE7}"/>
              </a:ext>
            </a:extLst>
          </p:cNvPr>
          <p:cNvCxnSpPr/>
          <p:nvPr/>
        </p:nvCxnSpPr>
        <p:spPr>
          <a:xfrm>
            <a:off x="8331200" y="5289550"/>
            <a:ext cx="203200" cy="1143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8FF1D22F-313C-C67C-C0F6-2F13907977C3}"/>
              </a:ext>
            </a:extLst>
          </p:cNvPr>
          <p:cNvCxnSpPr/>
          <p:nvPr/>
        </p:nvCxnSpPr>
        <p:spPr>
          <a:xfrm flipV="1">
            <a:off x="8534400" y="5276850"/>
            <a:ext cx="215900" cy="1270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EC77DF4-FAFD-3134-DDAF-974808D9CFFB}"/>
              </a:ext>
            </a:extLst>
          </p:cNvPr>
          <p:cNvCxnSpPr/>
          <p:nvPr/>
        </p:nvCxnSpPr>
        <p:spPr>
          <a:xfrm>
            <a:off x="8750300" y="5276850"/>
            <a:ext cx="165100" cy="1778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D04AA13C-7943-599A-967D-4807A0A38559}"/>
              </a:ext>
            </a:extLst>
          </p:cNvPr>
          <p:cNvCxnSpPr/>
          <p:nvPr/>
        </p:nvCxnSpPr>
        <p:spPr>
          <a:xfrm>
            <a:off x="8534400" y="5403850"/>
            <a:ext cx="127000" cy="2159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1094FF8B-B815-59FF-CF4D-649C632106F8}"/>
              </a:ext>
            </a:extLst>
          </p:cNvPr>
          <p:cNvCxnSpPr/>
          <p:nvPr/>
        </p:nvCxnSpPr>
        <p:spPr>
          <a:xfrm flipH="1">
            <a:off x="8407400" y="5619750"/>
            <a:ext cx="254000" cy="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6BAC1181-863C-FA9A-2DB4-F8560648C4A7}"/>
              </a:ext>
            </a:extLst>
          </p:cNvPr>
          <p:cNvCxnSpPr/>
          <p:nvPr/>
        </p:nvCxnSpPr>
        <p:spPr>
          <a:xfrm flipH="1" flipV="1">
            <a:off x="8128000" y="5429250"/>
            <a:ext cx="279400" cy="190500"/>
          </a:xfrm>
          <a:prstGeom prst="straightConnector1">
            <a:avLst/>
          </a:prstGeom>
          <a:ln w="1397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3034F56D-887D-F80D-F27E-9896E1C72D45}"/>
              </a:ext>
            </a:extLst>
          </p:cNvPr>
          <p:cNvSpPr/>
          <p:nvPr/>
        </p:nvSpPr>
        <p:spPr>
          <a:xfrm>
            <a:off x="8077200" y="53784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6B7AF2D-190A-C50E-9280-E91908AF06F2}"/>
              </a:ext>
            </a:extLst>
          </p:cNvPr>
          <p:cNvSpPr/>
          <p:nvPr/>
        </p:nvSpPr>
        <p:spPr>
          <a:xfrm>
            <a:off x="8280400" y="52387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C6DAF12E-9999-A880-AF68-10BB9B323D41}"/>
              </a:ext>
            </a:extLst>
          </p:cNvPr>
          <p:cNvSpPr/>
          <p:nvPr/>
        </p:nvSpPr>
        <p:spPr>
          <a:xfrm>
            <a:off x="8483600" y="5353050"/>
            <a:ext cx="101600" cy="101600"/>
          </a:xfrm>
          <a:prstGeom prst="ellipse">
            <a:avLst/>
          </a:prstGeom>
          <a:solidFill>
            <a:srgbClr val="377DF0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C2AC00BB-64A2-9DEC-6A80-6CD3CF905123}"/>
              </a:ext>
            </a:extLst>
          </p:cNvPr>
          <p:cNvSpPr/>
          <p:nvPr/>
        </p:nvSpPr>
        <p:spPr>
          <a:xfrm>
            <a:off x="8699500" y="52260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B312C2B-59FA-6064-1554-F7D38F7D31EB}"/>
              </a:ext>
            </a:extLst>
          </p:cNvPr>
          <p:cNvSpPr/>
          <p:nvPr/>
        </p:nvSpPr>
        <p:spPr>
          <a:xfrm>
            <a:off x="8864600" y="5403850"/>
            <a:ext cx="101600" cy="101600"/>
          </a:xfrm>
          <a:prstGeom prst="ellipse">
            <a:avLst/>
          </a:prstGeom>
          <a:solidFill>
            <a:srgbClr val="E63737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6A86109C-56F9-60B5-DEA4-2E20D02049A0}"/>
              </a:ext>
            </a:extLst>
          </p:cNvPr>
          <p:cNvSpPr/>
          <p:nvPr/>
        </p:nvSpPr>
        <p:spPr>
          <a:xfrm>
            <a:off x="8610600" y="55689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D67D08B9-EE18-A481-17FE-55E310494CE5}"/>
              </a:ext>
            </a:extLst>
          </p:cNvPr>
          <p:cNvSpPr/>
          <p:nvPr/>
        </p:nvSpPr>
        <p:spPr>
          <a:xfrm>
            <a:off x="8356600" y="5568950"/>
            <a:ext cx="101600" cy="101600"/>
          </a:xfrm>
          <a:prstGeom prst="ellipse">
            <a:avLst/>
          </a:prstGeom>
          <a:solidFill>
            <a:srgbClr val="F5F5F5"/>
          </a:solidFill>
          <a:ln w="762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EBFF057C-3124-4BF9-57C6-B36E143E4E43}"/>
              </a:ext>
            </a:extLst>
          </p:cNvPr>
          <p:cNvCxnSpPr/>
          <p:nvPr/>
        </p:nvCxnSpPr>
        <p:spPr>
          <a:xfrm>
            <a:off x="6743700" y="4794250"/>
            <a:ext cx="0" cy="13589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21EE6962-AA39-BEF3-A813-9068101AC621}"/>
              </a:ext>
            </a:extLst>
          </p:cNvPr>
          <p:cNvCxnSpPr/>
          <p:nvPr/>
        </p:nvCxnSpPr>
        <p:spPr>
          <a:xfrm>
            <a:off x="8432800" y="4794250"/>
            <a:ext cx="0" cy="13589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CCA051AB-A3B0-19B3-F3E3-18BF8F818894}"/>
              </a:ext>
            </a:extLst>
          </p:cNvPr>
          <p:cNvCxnSpPr/>
          <p:nvPr/>
        </p:nvCxnSpPr>
        <p:spPr>
          <a:xfrm>
            <a:off x="6743700" y="6076950"/>
            <a:ext cx="177800" cy="2794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4A12CD6-971D-932C-B342-DD017986A39C}"/>
              </a:ext>
            </a:extLst>
          </p:cNvPr>
          <p:cNvCxnSpPr/>
          <p:nvPr/>
        </p:nvCxnSpPr>
        <p:spPr>
          <a:xfrm flipH="1">
            <a:off x="8255000" y="6076950"/>
            <a:ext cx="177800" cy="2794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77900209-06B8-D549-9585-A734F80E7656}"/>
              </a:ext>
            </a:extLst>
          </p:cNvPr>
          <p:cNvSpPr/>
          <p:nvPr/>
        </p:nvSpPr>
        <p:spPr>
          <a:xfrm>
            <a:off x="6007100" y="6356350"/>
            <a:ext cx="3149600" cy="609600"/>
          </a:xfrm>
          <a:prstGeom prst="roundRect">
            <a:avLst/>
          </a:prstGeom>
          <a:solidFill>
            <a:srgbClr val="FAF7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6441B4"/>
                </a:solidFill>
                <a:latin typeface="Arial" panose="020B0604020202020204" pitchFamily="34" charset="0"/>
              </a:rPr>
              <a:t>Cross-fusion module
RNA-to-ligand attention
Ligand-to-RNA attention</a:t>
            </a:r>
            <a:endParaRPr lang="zh-CN" altLang="en-US" sz="9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D1158EE3-8FE6-E4DF-AE16-4C43B2ADC8F3}"/>
              </a:ext>
            </a:extLst>
          </p:cNvPr>
          <p:cNvCxnSpPr/>
          <p:nvPr/>
        </p:nvCxnSpPr>
        <p:spPr>
          <a:xfrm>
            <a:off x="6794500" y="6965950"/>
            <a:ext cx="0" cy="254000"/>
          </a:xfrm>
          <a:prstGeom prst="straightConnector1">
            <a:avLst/>
          </a:prstGeom>
          <a:ln w="11430">
            <a:solidFill>
              <a:srgbClr val="1E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7FFE252-BCEA-9587-229C-9A1B7315E934}"/>
              </a:ext>
            </a:extLst>
          </p:cNvPr>
          <p:cNvCxnSpPr/>
          <p:nvPr/>
        </p:nvCxnSpPr>
        <p:spPr>
          <a:xfrm>
            <a:off x="8382000" y="6965950"/>
            <a:ext cx="0" cy="254000"/>
          </a:xfrm>
          <a:prstGeom prst="straightConnector1">
            <a:avLst/>
          </a:prstGeom>
          <a:ln w="11430">
            <a:solidFill>
              <a:srgbClr val="D2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F1F1850-59D8-1AA6-F949-055EA5565C87}"/>
              </a:ext>
            </a:extLst>
          </p:cNvPr>
          <p:cNvSpPr txBox="1"/>
          <p:nvPr/>
        </p:nvSpPr>
        <p:spPr>
          <a:xfrm>
            <a:off x="6096000" y="7194550"/>
            <a:ext cx="13335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1E52B4"/>
                </a:solidFill>
                <a:latin typeface="Arial" panose="020B0604020202020204" pitchFamily="34" charset="0"/>
              </a:rPr>
              <a:t>Token-level embeddings for contact prediction</a:t>
            </a:r>
            <a:endParaRPr lang="zh-CN" altLang="en-US" sz="7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2B0AC900-D50B-993C-C7F4-B99A518E296A}"/>
              </a:ext>
            </a:extLst>
          </p:cNvPr>
          <p:cNvSpPr txBox="1"/>
          <p:nvPr/>
        </p:nvSpPr>
        <p:spPr>
          <a:xfrm>
            <a:off x="7683500" y="7194550"/>
            <a:ext cx="13335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D22D2D"/>
                </a:solidFill>
                <a:latin typeface="Arial" panose="020B0604020202020204" pitchFamily="34" charset="0"/>
              </a:rPr>
              <a:t>Token-level embeddings for contact prediction</a:t>
            </a:r>
            <a:endParaRPr lang="zh-CN" altLang="en-US" sz="7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9B56C0F7-2B79-0CED-01FB-FC122F9D1E00}"/>
              </a:ext>
            </a:extLst>
          </p:cNvPr>
          <p:cNvSpPr txBox="1"/>
          <p:nvPr/>
        </p:nvSpPr>
        <p:spPr>
          <a:xfrm>
            <a:off x="6134100" y="7486650"/>
            <a:ext cx="1270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pt-BR" altLang="zh-CN" sz="700">
                <a:solidFill>
                  <a:srgbClr val="1E52B4"/>
                </a:solidFill>
                <a:latin typeface="Arial" panose="020B0604020202020204" pitchFamily="34" charset="0"/>
              </a:rPr>
              <a:t>Nucleotide embeddings r_i
r_1, r_2, ..., r_p</a:t>
            </a:r>
            <a:endParaRPr lang="zh-CN" altLang="en-US" sz="700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DCA4C4C-ECEA-447A-9943-640B4C5D8BB4}"/>
              </a:ext>
            </a:extLst>
          </p:cNvPr>
          <p:cNvSpPr txBox="1"/>
          <p:nvPr/>
        </p:nvSpPr>
        <p:spPr>
          <a:xfrm>
            <a:off x="7721600" y="7486650"/>
            <a:ext cx="1270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nl-NL" altLang="zh-CN" sz="700">
                <a:solidFill>
                  <a:srgbClr val="D22D2D"/>
                </a:solidFill>
                <a:latin typeface="Arial" panose="020B0604020202020204" pitchFamily="34" charset="0"/>
              </a:rPr>
              <a:t>Atom embeddings m_j
m_1, m_2, ..., m_q</a:t>
            </a:r>
            <a:endParaRPr lang="zh-CN" altLang="en-US" sz="700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40AABDB-7F84-ABA5-37B2-844968824CE9}"/>
              </a:ext>
            </a:extLst>
          </p:cNvPr>
          <p:cNvSpPr/>
          <p:nvPr/>
        </p:nvSpPr>
        <p:spPr>
          <a:xfrm>
            <a:off x="6350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79EDF2F-E67D-82B2-D555-EBD10E7B0336}"/>
              </a:ext>
            </a:extLst>
          </p:cNvPr>
          <p:cNvSpPr/>
          <p:nvPr/>
        </p:nvSpPr>
        <p:spPr>
          <a:xfrm>
            <a:off x="6477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B2A4A60-A4E1-7882-C2A8-6314959EB959}"/>
              </a:ext>
            </a:extLst>
          </p:cNvPr>
          <p:cNvSpPr/>
          <p:nvPr/>
        </p:nvSpPr>
        <p:spPr>
          <a:xfrm>
            <a:off x="6604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1038C87-F004-64D0-99C8-BE8BC4459948}"/>
              </a:ext>
            </a:extLst>
          </p:cNvPr>
          <p:cNvSpPr/>
          <p:nvPr/>
        </p:nvSpPr>
        <p:spPr>
          <a:xfrm>
            <a:off x="6731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3A40AEB-C925-09E9-3748-B45B730F6AC4}"/>
              </a:ext>
            </a:extLst>
          </p:cNvPr>
          <p:cNvSpPr/>
          <p:nvPr/>
        </p:nvSpPr>
        <p:spPr>
          <a:xfrm>
            <a:off x="6858000" y="78168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67C5D0E9-D2A9-40A8-6842-23E696E0577E}"/>
              </a:ext>
            </a:extLst>
          </p:cNvPr>
          <p:cNvSpPr/>
          <p:nvPr/>
        </p:nvSpPr>
        <p:spPr>
          <a:xfrm>
            <a:off x="7937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9FC408C-777F-34D8-CD98-6C88C2164C36}"/>
              </a:ext>
            </a:extLst>
          </p:cNvPr>
          <p:cNvSpPr/>
          <p:nvPr/>
        </p:nvSpPr>
        <p:spPr>
          <a:xfrm>
            <a:off x="8064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BB8C5BF-EA35-FC18-BD71-2BE9DDB7E518}"/>
              </a:ext>
            </a:extLst>
          </p:cNvPr>
          <p:cNvSpPr/>
          <p:nvPr/>
        </p:nvSpPr>
        <p:spPr>
          <a:xfrm>
            <a:off x="8191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32904C5-CDBB-22F7-30C5-B726169B70CA}"/>
              </a:ext>
            </a:extLst>
          </p:cNvPr>
          <p:cNvSpPr/>
          <p:nvPr/>
        </p:nvSpPr>
        <p:spPr>
          <a:xfrm>
            <a:off x="8318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8BDCD51C-1BA8-A321-1D8F-FCB9BD8BB049}"/>
              </a:ext>
            </a:extLst>
          </p:cNvPr>
          <p:cNvSpPr/>
          <p:nvPr/>
        </p:nvSpPr>
        <p:spPr>
          <a:xfrm>
            <a:off x="8445500" y="78168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DBD6E35D-2F9A-F32A-0BE1-35D7485795DD}"/>
              </a:ext>
            </a:extLst>
          </p:cNvPr>
          <p:cNvCxnSpPr/>
          <p:nvPr/>
        </p:nvCxnSpPr>
        <p:spPr>
          <a:xfrm>
            <a:off x="6794500" y="7943850"/>
            <a:ext cx="0" cy="279400"/>
          </a:xfrm>
          <a:prstGeom prst="straightConnector1">
            <a:avLst/>
          </a:prstGeom>
          <a:ln w="10160">
            <a:solidFill>
              <a:srgbClr val="1E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0AF5E763-CB0B-388F-F8B7-F6111369BC89}"/>
              </a:ext>
            </a:extLst>
          </p:cNvPr>
          <p:cNvCxnSpPr/>
          <p:nvPr/>
        </p:nvCxnSpPr>
        <p:spPr>
          <a:xfrm>
            <a:off x="8382000" y="7943850"/>
            <a:ext cx="0" cy="279400"/>
          </a:xfrm>
          <a:prstGeom prst="straightConnector1">
            <a:avLst/>
          </a:prstGeom>
          <a:ln w="10160">
            <a:solidFill>
              <a:srgbClr val="D2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A57DD460-F738-8B42-7D91-F2E5B361EFEE}"/>
              </a:ext>
            </a:extLst>
          </p:cNvPr>
          <p:cNvSpPr/>
          <p:nvPr/>
        </p:nvSpPr>
        <p:spPr>
          <a:xfrm>
            <a:off x="6057900" y="8210550"/>
            <a:ext cx="3048000" cy="558800"/>
          </a:xfrm>
          <a:prstGeom prst="roundRect">
            <a:avLst/>
          </a:prstGeom>
          <a:solidFill>
            <a:srgbClr val="FCFCFC"/>
          </a:solidFill>
          <a:ln w="13970">
            <a:solidFill>
              <a:srgbClr val="6969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rgbClr val="696969"/>
                </a:solidFill>
                <a:latin typeface="Arial" panose="020B0604020202020204" pitchFamily="34" charset="0"/>
              </a:rPr>
              <a:t>Pooled view vectors for SCA and affinity prediction</a:t>
            </a:r>
            <a:endParaRPr lang="zh-CN" altLang="en-US" sz="700">
              <a:solidFill>
                <a:srgbClr val="696969"/>
              </a:solidFill>
              <a:latin typeface="Arial" panose="020B0604020202020204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488173F6-74D7-155C-C28A-20281F871DF7}"/>
              </a:ext>
            </a:extLst>
          </p:cNvPr>
          <p:cNvSpPr/>
          <p:nvPr/>
        </p:nvSpPr>
        <p:spPr>
          <a:xfrm>
            <a:off x="6223000" y="8515350"/>
            <a:ext cx="533400" cy="228600"/>
          </a:xfrm>
          <a:prstGeom prst="rect">
            <a:avLst/>
          </a:prstGeom>
          <a:solidFill>
            <a:srgbClr val="F6FA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h_RS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7EE3DE9-5799-E41F-0143-83A84A365A40}"/>
              </a:ext>
            </a:extLst>
          </p:cNvPr>
          <p:cNvSpPr/>
          <p:nvPr/>
        </p:nvSpPr>
        <p:spPr>
          <a:xfrm>
            <a:off x="6959600" y="8515350"/>
            <a:ext cx="533400" cy="228600"/>
          </a:xfrm>
          <a:prstGeom prst="rect">
            <a:avLst/>
          </a:prstGeom>
          <a:solidFill>
            <a:srgbClr val="F5FFFF"/>
          </a:solidFill>
          <a:ln w="13970"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491A0"/>
                </a:solidFill>
                <a:latin typeface="Arial" panose="020B0604020202020204" pitchFamily="34" charset="0"/>
              </a:rPr>
              <a:t>h_RG</a:t>
            </a:r>
            <a:endParaRPr lang="zh-CN" altLang="en-US" sz="800" b="1">
              <a:solidFill>
                <a:srgbClr val="1491A0"/>
              </a:solidFill>
              <a:latin typeface="Arial" panose="020B0604020202020204" pitchFamily="34" charset="0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3902825-744C-158C-C45E-E056E8603FC1}"/>
              </a:ext>
            </a:extLst>
          </p:cNvPr>
          <p:cNvSpPr/>
          <p:nvPr/>
        </p:nvSpPr>
        <p:spPr>
          <a:xfrm>
            <a:off x="7696200" y="8515350"/>
            <a:ext cx="533400" cy="228600"/>
          </a:xfrm>
          <a:prstGeom prst="rect">
            <a:avLst/>
          </a:prstGeom>
          <a:solidFill>
            <a:srgbClr val="FFF8F0"/>
          </a:solidFill>
          <a:ln w="13970"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F06414"/>
                </a:solidFill>
                <a:latin typeface="Arial" panose="020B0604020202020204" pitchFamily="34" charset="0"/>
              </a:rPr>
              <a:t>h_MS</a:t>
            </a:r>
            <a:endParaRPr lang="zh-CN" altLang="en-US" sz="800" b="1">
              <a:solidFill>
                <a:srgbClr val="F06414"/>
              </a:solidFill>
              <a:latin typeface="Arial" panose="020B0604020202020204" pitchFamily="34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7FF196F-BF24-80BD-95BC-70C86FA19DDB}"/>
              </a:ext>
            </a:extLst>
          </p:cNvPr>
          <p:cNvSpPr/>
          <p:nvPr/>
        </p:nvSpPr>
        <p:spPr>
          <a:xfrm>
            <a:off x="8432800" y="8515350"/>
            <a:ext cx="533400" cy="228600"/>
          </a:xfrm>
          <a:prstGeom prst="rect">
            <a:avLst/>
          </a:prstGeom>
          <a:solidFill>
            <a:srgbClr val="FFF4F4"/>
          </a:solidFill>
          <a:ln w="13970"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D22D2D"/>
                </a:solidFill>
                <a:latin typeface="Arial" panose="020B0604020202020204" pitchFamily="34" charset="0"/>
              </a:rPr>
              <a:t>h_MG</a:t>
            </a:r>
            <a:endParaRPr lang="zh-CN" altLang="en-US" sz="8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63F3D862-566E-FF27-3492-EB514155F8C8}"/>
              </a:ext>
            </a:extLst>
          </p:cNvPr>
          <p:cNvSpPr/>
          <p:nvPr/>
        </p:nvSpPr>
        <p:spPr>
          <a:xfrm>
            <a:off x="10033000" y="3359150"/>
            <a:ext cx="1651000" cy="3048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1E822D"/>
                </a:solidFill>
                <a:latin typeface="Arial" panose="020B0604020202020204" pitchFamily="34" charset="0"/>
              </a:rPr>
              <a:t>Stage 1: Contact pretraining</a:t>
            </a:r>
            <a:endParaRPr lang="zh-CN" altLang="en-US" sz="9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AA2B05EA-DB5E-737B-D2F9-84E1D6AB5A97}"/>
              </a:ext>
            </a:extLst>
          </p:cNvPr>
          <p:cNvSpPr txBox="1"/>
          <p:nvPr/>
        </p:nvSpPr>
        <p:spPr>
          <a:xfrm>
            <a:off x="9779000" y="3714750"/>
            <a:ext cx="21590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1E822D"/>
                </a:solidFill>
                <a:latin typeface="Arial" panose="020B0604020202020204" pitchFamily="34" charset="0"/>
              </a:rPr>
              <a:t>PDB complexes only
PDB-derived distance-defined contact labels</a:t>
            </a:r>
            <a:endParaRPr lang="zh-CN" altLang="en-US" sz="8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11C4B25C-ED1B-65B0-841F-9454D6369ED1}"/>
              </a:ext>
            </a:extLst>
          </p:cNvPr>
          <p:cNvSpPr txBox="1"/>
          <p:nvPr/>
        </p:nvSpPr>
        <p:spPr>
          <a:xfrm>
            <a:off x="9652000" y="4235452"/>
            <a:ext cx="9525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1E52B4"/>
                </a:solidFill>
                <a:latin typeface="Arial" panose="020B0604020202020204" pitchFamily="34" charset="0"/>
              </a:rPr>
              <a:t>Nucleotide
embeddings r_i
(i = 1,...,p)</a:t>
            </a:r>
            <a:endParaRPr lang="zh-CN" altLang="en-US" sz="7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3CDD8531-92E8-B2C0-EBC4-432458CDDED2}"/>
              </a:ext>
            </a:extLst>
          </p:cNvPr>
          <p:cNvSpPr txBox="1"/>
          <p:nvPr/>
        </p:nvSpPr>
        <p:spPr>
          <a:xfrm>
            <a:off x="11036300" y="4235452"/>
            <a:ext cx="11176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D22D2D"/>
                </a:solidFill>
                <a:latin typeface="Arial" panose="020B0604020202020204" pitchFamily="34" charset="0"/>
              </a:rPr>
              <a:t>Atom embeddings m_j
(from graph / cross-fused atom stream)
(j = 1,...,q)</a:t>
            </a:r>
            <a:endParaRPr lang="zh-CN" altLang="en-US" sz="700" b="1">
              <a:solidFill>
                <a:srgbClr val="D22D2D"/>
              </a:solidFill>
              <a:latin typeface="Arial" panose="020B0604020202020204" pitchFamily="34" charset="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064DE45-29D5-5D19-5E75-0BA97D493506}"/>
              </a:ext>
            </a:extLst>
          </p:cNvPr>
          <p:cNvSpPr/>
          <p:nvPr/>
        </p:nvSpPr>
        <p:spPr>
          <a:xfrm>
            <a:off x="9855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A3A29D95-AFA8-9BE3-327E-663DB70F8E54}"/>
              </a:ext>
            </a:extLst>
          </p:cNvPr>
          <p:cNvSpPr/>
          <p:nvPr/>
        </p:nvSpPr>
        <p:spPr>
          <a:xfrm>
            <a:off x="9982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6D9BB8D-F512-9B57-5301-0CB523D4452F}"/>
              </a:ext>
            </a:extLst>
          </p:cNvPr>
          <p:cNvSpPr/>
          <p:nvPr/>
        </p:nvSpPr>
        <p:spPr>
          <a:xfrm>
            <a:off x="10109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0F07A317-4365-B516-8001-8A38B251960F}"/>
              </a:ext>
            </a:extLst>
          </p:cNvPr>
          <p:cNvSpPr/>
          <p:nvPr/>
        </p:nvSpPr>
        <p:spPr>
          <a:xfrm>
            <a:off x="10236200" y="48577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F8994433-1814-4C70-860A-4E3F56352F66}"/>
              </a:ext>
            </a:extLst>
          </p:cNvPr>
          <p:cNvSpPr/>
          <p:nvPr/>
        </p:nvSpPr>
        <p:spPr>
          <a:xfrm>
            <a:off x="11201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1C3FE899-8050-3135-9BCD-687CAA23FAA1}"/>
              </a:ext>
            </a:extLst>
          </p:cNvPr>
          <p:cNvSpPr/>
          <p:nvPr/>
        </p:nvSpPr>
        <p:spPr>
          <a:xfrm>
            <a:off x="11328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4D432F-C08C-6E64-4812-3C13B94E09FF}"/>
              </a:ext>
            </a:extLst>
          </p:cNvPr>
          <p:cNvSpPr/>
          <p:nvPr/>
        </p:nvSpPr>
        <p:spPr>
          <a:xfrm>
            <a:off x="11455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73BFA2E-03F3-F391-9D48-2B4F5BA00E39}"/>
              </a:ext>
            </a:extLst>
          </p:cNvPr>
          <p:cNvSpPr/>
          <p:nvPr/>
        </p:nvSpPr>
        <p:spPr>
          <a:xfrm>
            <a:off x="11582400" y="48577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3607ACC6-9069-30C3-02BC-A8C76678A34C}"/>
              </a:ext>
            </a:extLst>
          </p:cNvPr>
          <p:cNvCxnSpPr/>
          <p:nvPr/>
        </p:nvCxnSpPr>
        <p:spPr>
          <a:xfrm>
            <a:off x="10121900" y="4984750"/>
            <a:ext cx="508000" cy="355600"/>
          </a:xfrm>
          <a:prstGeom prst="straightConnector1">
            <a:avLst/>
          </a:prstGeom>
          <a:ln w="12700">
            <a:solidFill>
              <a:srgbClr val="1E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A76C0713-5261-86B2-14D4-1FA28DE73CB2}"/>
              </a:ext>
            </a:extLst>
          </p:cNvPr>
          <p:cNvCxnSpPr/>
          <p:nvPr/>
        </p:nvCxnSpPr>
        <p:spPr>
          <a:xfrm flipH="1">
            <a:off x="10972800" y="4984750"/>
            <a:ext cx="482600" cy="355600"/>
          </a:xfrm>
          <a:prstGeom prst="straightConnector1">
            <a:avLst/>
          </a:prstGeom>
          <a:ln w="12700">
            <a:solidFill>
              <a:srgbClr val="D2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DF66FBDE-F759-10C8-0FCB-43209E4CC312}"/>
              </a:ext>
            </a:extLst>
          </p:cNvPr>
          <p:cNvSpPr/>
          <p:nvPr/>
        </p:nvSpPr>
        <p:spPr>
          <a:xfrm>
            <a:off x="9931400" y="5327650"/>
            <a:ext cx="1841500" cy="1460500"/>
          </a:xfrm>
          <a:prstGeom prst="roundRect">
            <a:avLst/>
          </a:prstGeom>
          <a:solidFill>
            <a:srgbClr val="F8FFF8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1E822D"/>
                </a:solidFill>
                <a:latin typeface="Arial" panose="020B0604020202020204" pitchFamily="34" charset="0"/>
              </a:rPr>
              <a:t>Contact prediction head
[r_i, m_j, r_i * m_j]
Pairwise MLP
score_ij</a:t>
            </a:r>
            <a:endParaRPr lang="zh-CN" altLang="en-US" sz="9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AC232F90-C061-AE17-094C-5A165F7FFFF1}"/>
              </a:ext>
            </a:extLst>
          </p:cNvPr>
          <p:cNvCxnSpPr/>
          <p:nvPr/>
        </p:nvCxnSpPr>
        <p:spPr>
          <a:xfrm>
            <a:off x="10629900" y="6788150"/>
            <a:ext cx="0" cy="330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98B24B2F-203D-3D24-E397-F6E48FFDC863}"/>
              </a:ext>
            </a:extLst>
          </p:cNvPr>
          <p:cNvCxnSpPr/>
          <p:nvPr/>
        </p:nvCxnSpPr>
        <p:spPr>
          <a:xfrm>
            <a:off x="11137900" y="6788150"/>
            <a:ext cx="0" cy="330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文本框 155">
            <a:extLst>
              <a:ext uri="{FF2B5EF4-FFF2-40B4-BE49-F238E27FC236}">
                <a16:creationId xmlns:a16="http://schemas.microsoft.com/office/drawing/2014/main" id="{4A1F7422-93E2-1E38-B030-00855842816D}"/>
              </a:ext>
            </a:extLst>
          </p:cNvPr>
          <p:cNvSpPr txBox="1"/>
          <p:nvPr/>
        </p:nvSpPr>
        <p:spPr>
          <a:xfrm>
            <a:off x="9575800" y="7042152"/>
            <a:ext cx="12065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Predicted contact
probability map P
P in [0,1]^{p x q}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8DA6B89-AC05-B695-D0E4-5987C19235F2}"/>
              </a:ext>
            </a:extLst>
          </p:cNvPr>
          <p:cNvSpPr txBox="1"/>
          <p:nvPr/>
        </p:nvSpPr>
        <p:spPr>
          <a:xfrm>
            <a:off x="11010900" y="7042152"/>
            <a:ext cx="1117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PDB-derived
contact map C
C in {0,1}^{p x q}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0ABB44DC-2DFE-C1C9-8953-07B8F99759A6}"/>
              </a:ext>
            </a:extLst>
          </p:cNvPr>
          <p:cNvSpPr/>
          <p:nvPr/>
        </p:nvSpPr>
        <p:spPr>
          <a:xfrm>
            <a:off x="98298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F8DB22B4-6493-69B2-271E-9694C9939B46}"/>
              </a:ext>
            </a:extLst>
          </p:cNvPr>
          <p:cNvSpPr/>
          <p:nvPr/>
        </p:nvSpPr>
        <p:spPr>
          <a:xfrm>
            <a:off x="9931400" y="75755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C7B3AF0B-F9C3-3709-93C5-00A4FF089EA8}"/>
              </a:ext>
            </a:extLst>
          </p:cNvPr>
          <p:cNvSpPr/>
          <p:nvPr/>
        </p:nvSpPr>
        <p:spPr>
          <a:xfrm>
            <a:off x="100330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E1B73AA5-AE61-878E-46DC-56C1271DA8AB}"/>
              </a:ext>
            </a:extLst>
          </p:cNvPr>
          <p:cNvSpPr/>
          <p:nvPr/>
        </p:nvSpPr>
        <p:spPr>
          <a:xfrm>
            <a:off x="101346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FD5E08F1-50F9-511E-0693-37B1CD1F04A1}"/>
              </a:ext>
            </a:extLst>
          </p:cNvPr>
          <p:cNvSpPr/>
          <p:nvPr/>
        </p:nvSpPr>
        <p:spPr>
          <a:xfrm>
            <a:off x="102362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A2176911-A030-3508-A54C-29192EEA8956}"/>
              </a:ext>
            </a:extLst>
          </p:cNvPr>
          <p:cNvSpPr/>
          <p:nvPr/>
        </p:nvSpPr>
        <p:spPr>
          <a:xfrm>
            <a:off x="9829800" y="76771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8E778A1D-5152-36BB-7C49-6F33A5832C2C}"/>
              </a:ext>
            </a:extLst>
          </p:cNvPr>
          <p:cNvSpPr/>
          <p:nvPr/>
        </p:nvSpPr>
        <p:spPr>
          <a:xfrm>
            <a:off x="99314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B74B389-D291-6FB7-1806-C25FFFC3B1BD}"/>
              </a:ext>
            </a:extLst>
          </p:cNvPr>
          <p:cNvSpPr/>
          <p:nvPr/>
        </p:nvSpPr>
        <p:spPr>
          <a:xfrm>
            <a:off x="100330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AAB90149-3EDF-DABC-7F09-10F8410E0A1F}"/>
              </a:ext>
            </a:extLst>
          </p:cNvPr>
          <p:cNvSpPr/>
          <p:nvPr/>
        </p:nvSpPr>
        <p:spPr>
          <a:xfrm>
            <a:off x="101346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B07CBCBE-561F-5248-E4D1-B39DF1D232FF}"/>
              </a:ext>
            </a:extLst>
          </p:cNvPr>
          <p:cNvSpPr/>
          <p:nvPr/>
        </p:nvSpPr>
        <p:spPr>
          <a:xfrm>
            <a:off x="102362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A183B8C3-FDF8-C7A6-A6D0-31C026DADCBD}"/>
              </a:ext>
            </a:extLst>
          </p:cNvPr>
          <p:cNvSpPr/>
          <p:nvPr/>
        </p:nvSpPr>
        <p:spPr>
          <a:xfrm>
            <a:off x="98298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B50DE24-1305-B538-2214-E82EE7DE1697}"/>
              </a:ext>
            </a:extLst>
          </p:cNvPr>
          <p:cNvSpPr/>
          <p:nvPr/>
        </p:nvSpPr>
        <p:spPr>
          <a:xfrm>
            <a:off x="99314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5FA4D734-9F15-F9DB-39B6-F89DB9A55A30}"/>
              </a:ext>
            </a:extLst>
          </p:cNvPr>
          <p:cNvSpPr/>
          <p:nvPr/>
        </p:nvSpPr>
        <p:spPr>
          <a:xfrm>
            <a:off x="10033000" y="77787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5763CCF-1663-CA60-C2DE-E47801066CAB}"/>
              </a:ext>
            </a:extLst>
          </p:cNvPr>
          <p:cNvSpPr/>
          <p:nvPr/>
        </p:nvSpPr>
        <p:spPr>
          <a:xfrm>
            <a:off x="101346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B89D7C9D-509D-1E17-35F8-600863C6C011}"/>
              </a:ext>
            </a:extLst>
          </p:cNvPr>
          <p:cNvSpPr/>
          <p:nvPr/>
        </p:nvSpPr>
        <p:spPr>
          <a:xfrm>
            <a:off x="102362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477F2547-FCE0-19EA-DF99-B8AF16A5309D}"/>
              </a:ext>
            </a:extLst>
          </p:cNvPr>
          <p:cNvSpPr/>
          <p:nvPr/>
        </p:nvSpPr>
        <p:spPr>
          <a:xfrm>
            <a:off x="98298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4389D3D-DA13-E352-FC99-2643543CCF54}"/>
              </a:ext>
            </a:extLst>
          </p:cNvPr>
          <p:cNvSpPr/>
          <p:nvPr/>
        </p:nvSpPr>
        <p:spPr>
          <a:xfrm>
            <a:off x="99314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46CD9266-698A-2288-7E88-29114A6C342E}"/>
              </a:ext>
            </a:extLst>
          </p:cNvPr>
          <p:cNvSpPr/>
          <p:nvPr/>
        </p:nvSpPr>
        <p:spPr>
          <a:xfrm>
            <a:off x="100330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90B57DEA-6C0E-F40C-904B-5C9FDC259DF8}"/>
              </a:ext>
            </a:extLst>
          </p:cNvPr>
          <p:cNvSpPr/>
          <p:nvPr/>
        </p:nvSpPr>
        <p:spPr>
          <a:xfrm>
            <a:off x="10134600" y="78803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FC4ACBB8-10A4-9D64-8115-AB1B803DFDF8}"/>
              </a:ext>
            </a:extLst>
          </p:cNvPr>
          <p:cNvSpPr/>
          <p:nvPr/>
        </p:nvSpPr>
        <p:spPr>
          <a:xfrm>
            <a:off x="102362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41E48E97-7062-42D5-03ED-F4DD10EB817B}"/>
              </a:ext>
            </a:extLst>
          </p:cNvPr>
          <p:cNvSpPr/>
          <p:nvPr/>
        </p:nvSpPr>
        <p:spPr>
          <a:xfrm>
            <a:off x="98298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B3221001-6E19-B392-31A0-0A075F1AAF69}"/>
              </a:ext>
            </a:extLst>
          </p:cNvPr>
          <p:cNvSpPr/>
          <p:nvPr/>
        </p:nvSpPr>
        <p:spPr>
          <a:xfrm>
            <a:off x="99314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D15E19E9-938F-75A9-6301-75F4E909EA6C}"/>
              </a:ext>
            </a:extLst>
          </p:cNvPr>
          <p:cNvSpPr/>
          <p:nvPr/>
        </p:nvSpPr>
        <p:spPr>
          <a:xfrm>
            <a:off x="10033000" y="79819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D694C8FA-3CBB-9983-AF48-069278A14AE8}"/>
              </a:ext>
            </a:extLst>
          </p:cNvPr>
          <p:cNvSpPr/>
          <p:nvPr/>
        </p:nvSpPr>
        <p:spPr>
          <a:xfrm>
            <a:off x="101346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000CA476-48D1-6F2B-FCEE-52CCF34F0A26}"/>
              </a:ext>
            </a:extLst>
          </p:cNvPr>
          <p:cNvSpPr/>
          <p:nvPr/>
        </p:nvSpPr>
        <p:spPr>
          <a:xfrm>
            <a:off x="102362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8A0366C3-4984-5D0F-A5BF-DDC973572935}"/>
              </a:ext>
            </a:extLst>
          </p:cNvPr>
          <p:cNvSpPr/>
          <p:nvPr/>
        </p:nvSpPr>
        <p:spPr>
          <a:xfrm>
            <a:off x="9728200" y="76136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ACBBFFB7-9A5D-4453-DDF7-7F0B1B25ADAE}"/>
              </a:ext>
            </a:extLst>
          </p:cNvPr>
          <p:cNvSpPr/>
          <p:nvPr/>
        </p:nvSpPr>
        <p:spPr>
          <a:xfrm>
            <a:off x="9728200" y="77152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63210886-1568-BFB3-397B-E2941D6EFF61}"/>
              </a:ext>
            </a:extLst>
          </p:cNvPr>
          <p:cNvSpPr/>
          <p:nvPr/>
        </p:nvSpPr>
        <p:spPr>
          <a:xfrm>
            <a:off x="9728200" y="7816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7A34FBF3-3BA0-A81A-DE9E-9103391810A4}"/>
              </a:ext>
            </a:extLst>
          </p:cNvPr>
          <p:cNvSpPr/>
          <p:nvPr/>
        </p:nvSpPr>
        <p:spPr>
          <a:xfrm>
            <a:off x="9728200" y="7918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3AE6CDE3-7B34-6730-BBA1-4E599000C9C7}"/>
              </a:ext>
            </a:extLst>
          </p:cNvPr>
          <p:cNvSpPr/>
          <p:nvPr/>
        </p:nvSpPr>
        <p:spPr>
          <a:xfrm>
            <a:off x="98806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BB4E32C4-0851-A633-C4E9-6DAEC7D24DA1}"/>
              </a:ext>
            </a:extLst>
          </p:cNvPr>
          <p:cNvSpPr/>
          <p:nvPr/>
        </p:nvSpPr>
        <p:spPr>
          <a:xfrm>
            <a:off x="99822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88D938B2-9B06-C271-5244-23D32D2D792A}"/>
              </a:ext>
            </a:extLst>
          </p:cNvPr>
          <p:cNvSpPr/>
          <p:nvPr/>
        </p:nvSpPr>
        <p:spPr>
          <a:xfrm>
            <a:off x="100838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CAF43D50-20CA-EE51-A640-07AEEACE333F}"/>
              </a:ext>
            </a:extLst>
          </p:cNvPr>
          <p:cNvSpPr/>
          <p:nvPr/>
        </p:nvSpPr>
        <p:spPr>
          <a:xfrm>
            <a:off x="101854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0CFCAC2B-DADA-8B63-747D-EF2914D90EA1}"/>
              </a:ext>
            </a:extLst>
          </p:cNvPr>
          <p:cNvSpPr/>
          <p:nvPr/>
        </p:nvSpPr>
        <p:spPr>
          <a:xfrm>
            <a:off x="11277600" y="75755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10F7D57-A33F-3709-DD64-CBC20D3D1474}"/>
              </a:ext>
            </a:extLst>
          </p:cNvPr>
          <p:cNvSpPr/>
          <p:nvPr/>
        </p:nvSpPr>
        <p:spPr>
          <a:xfrm>
            <a:off x="113792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908EDEA0-842B-3A02-643E-458311F8E9C8}"/>
              </a:ext>
            </a:extLst>
          </p:cNvPr>
          <p:cNvSpPr/>
          <p:nvPr/>
        </p:nvSpPr>
        <p:spPr>
          <a:xfrm>
            <a:off x="114808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7763E345-07D6-835C-DF82-06DF70A65222}"/>
              </a:ext>
            </a:extLst>
          </p:cNvPr>
          <p:cNvSpPr/>
          <p:nvPr/>
        </p:nvSpPr>
        <p:spPr>
          <a:xfrm>
            <a:off x="115824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AFBC3226-05A5-C789-6627-812921E7EE1F}"/>
              </a:ext>
            </a:extLst>
          </p:cNvPr>
          <p:cNvSpPr/>
          <p:nvPr/>
        </p:nvSpPr>
        <p:spPr>
          <a:xfrm>
            <a:off x="11684000" y="75755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E04F7370-8678-7FB8-02EC-F3F4E46F7E83}"/>
              </a:ext>
            </a:extLst>
          </p:cNvPr>
          <p:cNvSpPr/>
          <p:nvPr/>
        </p:nvSpPr>
        <p:spPr>
          <a:xfrm>
            <a:off x="112776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D8F38F59-C47E-EF8E-9BC2-EBB70321139C}"/>
              </a:ext>
            </a:extLst>
          </p:cNvPr>
          <p:cNvSpPr/>
          <p:nvPr/>
        </p:nvSpPr>
        <p:spPr>
          <a:xfrm>
            <a:off x="11379200" y="76771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685872A1-B6D0-9B09-80B7-785BF66854C1}"/>
              </a:ext>
            </a:extLst>
          </p:cNvPr>
          <p:cNvSpPr/>
          <p:nvPr/>
        </p:nvSpPr>
        <p:spPr>
          <a:xfrm>
            <a:off x="114808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E78A4A48-0E85-F8FF-DAA7-26094892CFCB}"/>
              </a:ext>
            </a:extLst>
          </p:cNvPr>
          <p:cNvSpPr/>
          <p:nvPr/>
        </p:nvSpPr>
        <p:spPr>
          <a:xfrm>
            <a:off x="115824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C7C58D03-44F0-B29C-DBBA-E89C5D62450D}"/>
              </a:ext>
            </a:extLst>
          </p:cNvPr>
          <p:cNvSpPr/>
          <p:nvPr/>
        </p:nvSpPr>
        <p:spPr>
          <a:xfrm>
            <a:off x="11684000" y="76771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F2803D82-FD1C-633B-ACE5-FBC2F40E870F}"/>
              </a:ext>
            </a:extLst>
          </p:cNvPr>
          <p:cNvSpPr/>
          <p:nvPr/>
        </p:nvSpPr>
        <p:spPr>
          <a:xfrm>
            <a:off x="112776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E19EE53F-D8E5-C457-743B-3C6E7A4391A3}"/>
              </a:ext>
            </a:extLst>
          </p:cNvPr>
          <p:cNvSpPr/>
          <p:nvPr/>
        </p:nvSpPr>
        <p:spPr>
          <a:xfrm>
            <a:off x="113792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5634D468-AF0E-88FB-18C4-3771A93D7A36}"/>
              </a:ext>
            </a:extLst>
          </p:cNvPr>
          <p:cNvSpPr/>
          <p:nvPr/>
        </p:nvSpPr>
        <p:spPr>
          <a:xfrm>
            <a:off x="11480800" y="77787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8C56AA13-F7A8-68B0-F80A-F307CA12E8D2}"/>
              </a:ext>
            </a:extLst>
          </p:cNvPr>
          <p:cNvSpPr/>
          <p:nvPr/>
        </p:nvSpPr>
        <p:spPr>
          <a:xfrm>
            <a:off x="115824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BA158897-C305-02F7-3CB2-8879C1182801}"/>
              </a:ext>
            </a:extLst>
          </p:cNvPr>
          <p:cNvSpPr/>
          <p:nvPr/>
        </p:nvSpPr>
        <p:spPr>
          <a:xfrm>
            <a:off x="11684000" y="77787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208384D3-D080-2FD5-AEE1-2EC2A9D65F3A}"/>
              </a:ext>
            </a:extLst>
          </p:cNvPr>
          <p:cNvSpPr/>
          <p:nvPr/>
        </p:nvSpPr>
        <p:spPr>
          <a:xfrm>
            <a:off x="112776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1C549CF-059A-171B-CC14-0D8120EF1769}"/>
              </a:ext>
            </a:extLst>
          </p:cNvPr>
          <p:cNvSpPr/>
          <p:nvPr/>
        </p:nvSpPr>
        <p:spPr>
          <a:xfrm>
            <a:off x="113792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12C8FE8E-75BA-2948-0D47-9173B684B1A7}"/>
              </a:ext>
            </a:extLst>
          </p:cNvPr>
          <p:cNvSpPr/>
          <p:nvPr/>
        </p:nvSpPr>
        <p:spPr>
          <a:xfrm>
            <a:off x="114808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02E0F827-A6E6-0F2C-A72E-8315DCB880CA}"/>
              </a:ext>
            </a:extLst>
          </p:cNvPr>
          <p:cNvSpPr/>
          <p:nvPr/>
        </p:nvSpPr>
        <p:spPr>
          <a:xfrm>
            <a:off x="11582400" y="78803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3A9A5596-54C6-6ABF-F279-F655518E03A3}"/>
              </a:ext>
            </a:extLst>
          </p:cNvPr>
          <p:cNvSpPr/>
          <p:nvPr/>
        </p:nvSpPr>
        <p:spPr>
          <a:xfrm>
            <a:off x="11684000" y="78803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43DDF053-94EF-8FB7-9743-84EEB51999E2}"/>
              </a:ext>
            </a:extLst>
          </p:cNvPr>
          <p:cNvSpPr/>
          <p:nvPr/>
        </p:nvSpPr>
        <p:spPr>
          <a:xfrm>
            <a:off x="112776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F854D1A8-2D6A-8ABD-74BE-C4FB065CE869}"/>
              </a:ext>
            </a:extLst>
          </p:cNvPr>
          <p:cNvSpPr/>
          <p:nvPr/>
        </p:nvSpPr>
        <p:spPr>
          <a:xfrm>
            <a:off x="113792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A0B0F1A1-3A34-0F52-49C3-72DAD5269424}"/>
              </a:ext>
            </a:extLst>
          </p:cNvPr>
          <p:cNvSpPr/>
          <p:nvPr/>
        </p:nvSpPr>
        <p:spPr>
          <a:xfrm>
            <a:off x="114808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323D42A8-54B9-8B4F-8D9C-928AC87C1046}"/>
              </a:ext>
            </a:extLst>
          </p:cNvPr>
          <p:cNvSpPr/>
          <p:nvPr/>
        </p:nvSpPr>
        <p:spPr>
          <a:xfrm>
            <a:off x="11582400" y="7981950"/>
            <a:ext cx="101600" cy="1016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76ECFAE-C32A-3DFF-3E0C-EB715DF43BA6}"/>
              </a:ext>
            </a:extLst>
          </p:cNvPr>
          <p:cNvSpPr/>
          <p:nvPr/>
        </p:nvSpPr>
        <p:spPr>
          <a:xfrm>
            <a:off x="11684000" y="7981950"/>
            <a:ext cx="101600" cy="1016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E8279F7E-98FF-E25B-2143-EF2DE933B987}"/>
              </a:ext>
            </a:extLst>
          </p:cNvPr>
          <p:cNvSpPr/>
          <p:nvPr/>
        </p:nvSpPr>
        <p:spPr>
          <a:xfrm>
            <a:off x="11176000" y="76136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894ACB75-C1D8-F24F-9937-AB86709D0C68}"/>
              </a:ext>
            </a:extLst>
          </p:cNvPr>
          <p:cNvSpPr/>
          <p:nvPr/>
        </p:nvSpPr>
        <p:spPr>
          <a:xfrm>
            <a:off x="11176000" y="77152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E56EE550-4652-5A38-EE5C-AE2995B8A183}"/>
              </a:ext>
            </a:extLst>
          </p:cNvPr>
          <p:cNvSpPr/>
          <p:nvPr/>
        </p:nvSpPr>
        <p:spPr>
          <a:xfrm>
            <a:off x="11176000" y="7816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868A3836-C4A6-2741-C1F5-6CBE9ED220DE}"/>
              </a:ext>
            </a:extLst>
          </p:cNvPr>
          <p:cNvSpPr/>
          <p:nvPr/>
        </p:nvSpPr>
        <p:spPr>
          <a:xfrm>
            <a:off x="11176000" y="7918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8DA25344-34CD-EC09-F579-CECD0D1BB037}"/>
              </a:ext>
            </a:extLst>
          </p:cNvPr>
          <p:cNvSpPr/>
          <p:nvPr/>
        </p:nvSpPr>
        <p:spPr>
          <a:xfrm>
            <a:off x="113284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C70007C2-7511-5069-3702-F7E160AA50BA}"/>
              </a:ext>
            </a:extLst>
          </p:cNvPr>
          <p:cNvSpPr/>
          <p:nvPr/>
        </p:nvSpPr>
        <p:spPr>
          <a:xfrm>
            <a:off x="114300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DE1EF828-AB6D-E509-5E05-8DF7E6071C21}"/>
              </a:ext>
            </a:extLst>
          </p:cNvPr>
          <p:cNvSpPr/>
          <p:nvPr/>
        </p:nvSpPr>
        <p:spPr>
          <a:xfrm>
            <a:off x="115316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84D88F4C-5D70-2815-2D11-1144C912AAB9}"/>
              </a:ext>
            </a:extLst>
          </p:cNvPr>
          <p:cNvSpPr/>
          <p:nvPr/>
        </p:nvSpPr>
        <p:spPr>
          <a:xfrm>
            <a:off x="11633200" y="81597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EC76E8FA-1A55-A9C7-3094-430C2A5CF7D1}"/>
              </a:ext>
            </a:extLst>
          </p:cNvPr>
          <p:cNvCxnSpPr/>
          <p:nvPr/>
        </p:nvCxnSpPr>
        <p:spPr>
          <a:xfrm>
            <a:off x="10121900" y="8134350"/>
            <a:ext cx="508000" cy="228600"/>
          </a:xfrm>
          <a:prstGeom prst="straightConnector1">
            <a:avLst/>
          </a:prstGeom>
          <a:ln w="1143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9CC25BE3-7087-6989-6F61-49B0F68AB7B2}"/>
              </a:ext>
            </a:extLst>
          </p:cNvPr>
          <p:cNvCxnSpPr/>
          <p:nvPr/>
        </p:nvCxnSpPr>
        <p:spPr>
          <a:xfrm flipH="1">
            <a:off x="11049000" y="8134350"/>
            <a:ext cx="533400" cy="228600"/>
          </a:xfrm>
          <a:prstGeom prst="straightConnector1">
            <a:avLst/>
          </a:prstGeom>
          <a:ln w="1143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2B19EDE7-2ECE-BD9F-C5A9-549929DBC57E}"/>
              </a:ext>
            </a:extLst>
          </p:cNvPr>
          <p:cNvSpPr/>
          <p:nvPr/>
        </p:nvSpPr>
        <p:spPr>
          <a:xfrm>
            <a:off x="10185400" y="8337550"/>
            <a:ext cx="1308100" cy="571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5A5A5A"/>
                </a:solidFill>
                <a:latin typeface="Arial" panose="020B0604020202020204" pitchFamily="34" charset="0"/>
              </a:rPr>
              <a:t>L_contact =
Focal Loss(P, C)</a:t>
            </a:r>
            <a:endParaRPr lang="zh-CN" altLang="en-US" sz="1000" b="1">
              <a:solidFill>
                <a:srgbClr val="5A5A5A"/>
              </a:solidFill>
              <a:latin typeface="Arial" panose="020B0604020202020204" pitchFamily="34" charset="0"/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064D9B17-B0CD-9C54-CF09-B1F7E5F40C60}"/>
              </a:ext>
            </a:extLst>
          </p:cNvPr>
          <p:cNvSpPr/>
          <p:nvPr/>
        </p:nvSpPr>
        <p:spPr>
          <a:xfrm>
            <a:off x="12890500" y="3359150"/>
            <a:ext cx="2184400" cy="304800"/>
          </a:xfrm>
          <a:prstGeom prst="roundRect">
            <a:avLst/>
          </a:prstGeom>
          <a:solidFill>
            <a:srgbClr val="F6F1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>
                <a:solidFill>
                  <a:srgbClr val="6441B4"/>
                </a:solidFill>
                <a:latin typeface="Arial" panose="020B0604020202020204" pitchFamily="34" charset="0"/>
              </a:rPr>
              <a:t>Stage 2: Affinity fine-tuning with SCA</a:t>
            </a:r>
            <a:endParaRPr lang="zh-CN" altLang="en-US" sz="9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01612DF7-4725-6087-D35A-576EEB3FB705}"/>
              </a:ext>
            </a:extLst>
          </p:cNvPr>
          <p:cNvSpPr txBox="1"/>
          <p:nvPr/>
        </p:nvSpPr>
        <p:spPr>
          <a:xfrm>
            <a:off x="12763500" y="3790952"/>
            <a:ext cx="2413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1) Pooled view vectors from backbone
H = [h_RS, h_RG, h_MS, h_MG]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76CBC83F-C5CC-FF0B-287B-EB8221AA1748}"/>
              </a:ext>
            </a:extLst>
          </p:cNvPr>
          <p:cNvSpPr/>
          <p:nvPr/>
        </p:nvSpPr>
        <p:spPr>
          <a:xfrm>
            <a:off x="12725400" y="4235450"/>
            <a:ext cx="2514600" cy="355600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222DEF2D-14F8-8D05-0680-968FBA54D719}"/>
              </a:ext>
            </a:extLst>
          </p:cNvPr>
          <p:cNvSpPr/>
          <p:nvPr/>
        </p:nvSpPr>
        <p:spPr>
          <a:xfrm>
            <a:off x="12890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5426C71E-D00B-13AD-47AC-D9A956EC62DB}"/>
              </a:ext>
            </a:extLst>
          </p:cNvPr>
          <p:cNvSpPr/>
          <p:nvPr/>
        </p:nvSpPr>
        <p:spPr>
          <a:xfrm>
            <a:off x="13017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7C5478F0-2002-14FB-72C6-26B21F5E53C3}"/>
              </a:ext>
            </a:extLst>
          </p:cNvPr>
          <p:cNvSpPr/>
          <p:nvPr/>
        </p:nvSpPr>
        <p:spPr>
          <a:xfrm>
            <a:off x="13144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7990B197-3B86-5D5E-73EF-9E3B93971CCE}"/>
              </a:ext>
            </a:extLst>
          </p:cNvPr>
          <p:cNvSpPr/>
          <p:nvPr/>
        </p:nvSpPr>
        <p:spPr>
          <a:xfrm>
            <a:off x="13271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88B67B5C-121B-05CA-AA1E-2B58C70A9F10}"/>
              </a:ext>
            </a:extLst>
          </p:cNvPr>
          <p:cNvSpPr/>
          <p:nvPr/>
        </p:nvSpPr>
        <p:spPr>
          <a:xfrm>
            <a:off x="13398500" y="4362450"/>
            <a:ext cx="88900" cy="88900"/>
          </a:xfrm>
          <a:prstGeom prst="rect">
            <a:avLst/>
          </a:prstGeom>
          <a:solidFill>
            <a:srgbClr val="1E52B4"/>
          </a:solidFill>
          <a:ln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C0FF49A6-CF7B-49B7-E542-FEE5087ADA3B}"/>
              </a:ext>
            </a:extLst>
          </p:cNvPr>
          <p:cNvSpPr/>
          <p:nvPr/>
        </p:nvSpPr>
        <p:spPr>
          <a:xfrm>
            <a:off x="13525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2B52DF40-5D02-89CD-C693-11A67973EA97}"/>
              </a:ext>
            </a:extLst>
          </p:cNvPr>
          <p:cNvSpPr/>
          <p:nvPr/>
        </p:nvSpPr>
        <p:spPr>
          <a:xfrm>
            <a:off x="13652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57F07F9-799E-CA74-F2EB-20BEB5BAF685}"/>
              </a:ext>
            </a:extLst>
          </p:cNvPr>
          <p:cNvSpPr/>
          <p:nvPr/>
        </p:nvSpPr>
        <p:spPr>
          <a:xfrm>
            <a:off x="13779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0DEB98A0-3F74-C021-6055-20E2819B0D29}"/>
              </a:ext>
            </a:extLst>
          </p:cNvPr>
          <p:cNvSpPr/>
          <p:nvPr/>
        </p:nvSpPr>
        <p:spPr>
          <a:xfrm>
            <a:off x="13906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EA86E9CE-7D5B-2F65-4298-9A354BBBFF76}"/>
              </a:ext>
            </a:extLst>
          </p:cNvPr>
          <p:cNvSpPr/>
          <p:nvPr/>
        </p:nvSpPr>
        <p:spPr>
          <a:xfrm>
            <a:off x="14033500" y="4362450"/>
            <a:ext cx="88900" cy="88900"/>
          </a:xfrm>
          <a:prstGeom prst="rect">
            <a:avLst/>
          </a:prstGeom>
          <a:solidFill>
            <a:srgbClr val="1491A0"/>
          </a:solidFill>
          <a:ln>
            <a:solidFill>
              <a:srgbClr val="14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8787EF6C-5D49-7DA4-F1A7-61D2DC1B2446}"/>
              </a:ext>
            </a:extLst>
          </p:cNvPr>
          <p:cNvSpPr/>
          <p:nvPr/>
        </p:nvSpPr>
        <p:spPr>
          <a:xfrm>
            <a:off x="14173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B360FE7C-246F-50C1-73E3-C91E9826D907}"/>
              </a:ext>
            </a:extLst>
          </p:cNvPr>
          <p:cNvSpPr/>
          <p:nvPr/>
        </p:nvSpPr>
        <p:spPr>
          <a:xfrm>
            <a:off x="14300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17E5520F-4FE1-A3D2-1392-956B43F30A7F}"/>
              </a:ext>
            </a:extLst>
          </p:cNvPr>
          <p:cNvSpPr/>
          <p:nvPr/>
        </p:nvSpPr>
        <p:spPr>
          <a:xfrm>
            <a:off x="14427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228074F3-CFCF-3890-8C21-0A4A225B0DC0}"/>
              </a:ext>
            </a:extLst>
          </p:cNvPr>
          <p:cNvSpPr/>
          <p:nvPr/>
        </p:nvSpPr>
        <p:spPr>
          <a:xfrm>
            <a:off x="14554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2759E132-10ED-6B8C-0BCF-0F2766316266}"/>
              </a:ext>
            </a:extLst>
          </p:cNvPr>
          <p:cNvSpPr/>
          <p:nvPr/>
        </p:nvSpPr>
        <p:spPr>
          <a:xfrm>
            <a:off x="14681200" y="4362450"/>
            <a:ext cx="88900" cy="88900"/>
          </a:xfrm>
          <a:prstGeom prst="rect">
            <a:avLst/>
          </a:prstGeom>
          <a:solidFill>
            <a:srgbClr val="F06414"/>
          </a:solidFill>
          <a:ln>
            <a:solidFill>
              <a:srgbClr val="F06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9EE30B9C-D63B-6BB3-9BEA-EE1B6C0EADA3}"/>
              </a:ext>
            </a:extLst>
          </p:cNvPr>
          <p:cNvSpPr/>
          <p:nvPr/>
        </p:nvSpPr>
        <p:spPr>
          <a:xfrm>
            <a:off x="14833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CD78C4FE-0237-6194-9514-064707352752}"/>
              </a:ext>
            </a:extLst>
          </p:cNvPr>
          <p:cNvSpPr/>
          <p:nvPr/>
        </p:nvSpPr>
        <p:spPr>
          <a:xfrm>
            <a:off x="14960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806FB9A5-9292-2A0D-42D0-D119E0E097AC}"/>
              </a:ext>
            </a:extLst>
          </p:cNvPr>
          <p:cNvSpPr/>
          <p:nvPr/>
        </p:nvSpPr>
        <p:spPr>
          <a:xfrm>
            <a:off x="15087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2477F03A-811A-5E21-AE1C-90EF168D6DD2}"/>
              </a:ext>
            </a:extLst>
          </p:cNvPr>
          <p:cNvSpPr/>
          <p:nvPr/>
        </p:nvSpPr>
        <p:spPr>
          <a:xfrm>
            <a:off x="15214600" y="4362450"/>
            <a:ext cx="88900" cy="88900"/>
          </a:xfrm>
          <a:prstGeom prst="rect">
            <a:avLst/>
          </a:prstGeom>
          <a:solidFill>
            <a:srgbClr val="D22D2D"/>
          </a:solidFill>
          <a:ln>
            <a:solidFill>
              <a:srgbClr val="D2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A4071C55-09E6-7ECC-9DA1-A66C7E6156F0}"/>
              </a:ext>
            </a:extLst>
          </p:cNvPr>
          <p:cNvSpPr txBox="1"/>
          <p:nvPr/>
        </p:nvSpPr>
        <p:spPr>
          <a:xfrm>
            <a:off x="12763500" y="4730752"/>
            <a:ext cx="2463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800" b="1">
                <a:solidFill>
                  <a:srgbClr val="1E822D"/>
                </a:solidFill>
                <a:latin typeface="Arial" panose="020B0604020202020204" pitchFamily="34" charset="0"/>
              </a:rPr>
              <a:t>2) Contact prior inferred (no contact labels used)</a:t>
            </a:r>
            <a:endParaRPr lang="zh-CN" altLang="en-US" sz="8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9DF48F83-B449-A811-B781-B4973DE36DA4}"/>
              </a:ext>
            </a:extLst>
          </p:cNvPr>
          <p:cNvSpPr txBox="1"/>
          <p:nvPr/>
        </p:nvSpPr>
        <p:spPr>
          <a:xfrm>
            <a:off x="12750800" y="4997452"/>
            <a:ext cx="13335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Pretrained contact head predicts P on R-SIM pairs
(no contact supervision)
P in [0,1]^{p x q}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C9387DEE-C501-D692-DD72-E851DF77A328}"/>
              </a:ext>
            </a:extLst>
          </p:cNvPr>
          <p:cNvSpPr/>
          <p:nvPr/>
        </p:nvSpPr>
        <p:spPr>
          <a:xfrm>
            <a:off x="129286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A9699613-1F0B-C86F-9C62-272453442BC1}"/>
              </a:ext>
            </a:extLst>
          </p:cNvPr>
          <p:cNvSpPr/>
          <p:nvPr/>
        </p:nvSpPr>
        <p:spPr>
          <a:xfrm>
            <a:off x="130175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7E04205B-E1D9-E069-A834-8072A4CAB6C0}"/>
              </a:ext>
            </a:extLst>
          </p:cNvPr>
          <p:cNvSpPr/>
          <p:nvPr/>
        </p:nvSpPr>
        <p:spPr>
          <a:xfrm>
            <a:off x="13106400" y="56197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2DE8C2DF-3F72-BC10-E8D9-E49ED70F9EB3}"/>
              </a:ext>
            </a:extLst>
          </p:cNvPr>
          <p:cNvSpPr/>
          <p:nvPr/>
        </p:nvSpPr>
        <p:spPr>
          <a:xfrm>
            <a:off x="131953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257FCBB-C323-AED7-9F46-E87AED707B66}"/>
              </a:ext>
            </a:extLst>
          </p:cNvPr>
          <p:cNvSpPr/>
          <p:nvPr/>
        </p:nvSpPr>
        <p:spPr>
          <a:xfrm>
            <a:off x="13284200" y="56197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C3C7FDE9-CDEE-7DC3-2E94-94A667CA1444}"/>
              </a:ext>
            </a:extLst>
          </p:cNvPr>
          <p:cNvSpPr/>
          <p:nvPr/>
        </p:nvSpPr>
        <p:spPr>
          <a:xfrm>
            <a:off x="129286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373B7A15-F131-E09E-0348-8DDF03478A18}"/>
              </a:ext>
            </a:extLst>
          </p:cNvPr>
          <p:cNvSpPr/>
          <p:nvPr/>
        </p:nvSpPr>
        <p:spPr>
          <a:xfrm>
            <a:off x="13017500" y="57086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637B42BB-B4C4-57AC-0031-E8936434C25E}"/>
              </a:ext>
            </a:extLst>
          </p:cNvPr>
          <p:cNvSpPr/>
          <p:nvPr/>
        </p:nvSpPr>
        <p:spPr>
          <a:xfrm>
            <a:off x="131064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663F069C-8ED0-FDB8-3FB0-8FBAEFBE119C}"/>
              </a:ext>
            </a:extLst>
          </p:cNvPr>
          <p:cNvSpPr/>
          <p:nvPr/>
        </p:nvSpPr>
        <p:spPr>
          <a:xfrm>
            <a:off x="131953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A280151-23DD-1BEC-6273-4EFF2670BB5E}"/>
              </a:ext>
            </a:extLst>
          </p:cNvPr>
          <p:cNvSpPr/>
          <p:nvPr/>
        </p:nvSpPr>
        <p:spPr>
          <a:xfrm>
            <a:off x="13284200" y="57086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2803E5C-E597-91C7-CEB2-C1B8F5139BE5}"/>
              </a:ext>
            </a:extLst>
          </p:cNvPr>
          <p:cNvSpPr/>
          <p:nvPr/>
        </p:nvSpPr>
        <p:spPr>
          <a:xfrm>
            <a:off x="12928600" y="57975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0E51293-AC68-F4AB-4988-7C58F75DB29F}"/>
              </a:ext>
            </a:extLst>
          </p:cNvPr>
          <p:cNvSpPr/>
          <p:nvPr/>
        </p:nvSpPr>
        <p:spPr>
          <a:xfrm>
            <a:off x="13017500" y="57975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7BB612C9-1442-89E8-E81E-057A654E0F07}"/>
              </a:ext>
            </a:extLst>
          </p:cNvPr>
          <p:cNvSpPr/>
          <p:nvPr/>
        </p:nvSpPr>
        <p:spPr>
          <a:xfrm>
            <a:off x="13106400" y="57975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04C38527-91D0-3568-04BE-8519E904C1A3}"/>
              </a:ext>
            </a:extLst>
          </p:cNvPr>
          <p:cNvSpPr/>
          <p:nvPr/>
        </p:nvSpPr>
        <p:spPr>
          <a:xfrm>
            <a:off x="13195300" y="57975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04211CCF-B025-492E-7E41-6C3A811F9790}"/>
              </a:ext>
            </a:extLst>
          </p:cNvPr>
          <p:cNvSpPr/>
          <p:nvPr/>
        </p:nvSpPr>
        <p:spPr>
          <a:xfrm>
            <a:off x="13284200" y="57975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27D858C0-2E8A-CAAC-AF48-F9E5875D0B6A}"/>
              </a:ext>
            </a:extLst>
          </p:cNvPr>
          <p:cNvSpPr/>
          <p:nvPr/>
        </p:nvSpPr>
        <p:spPr>
          <a:xfrm>
            <a:off x="129286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E9632862-F805-F09F-A13D-EB103F54F824}"/>
              </a:ext>
            </a:extLst>
          </p:cNvPr>
          <p:cNvSpPr/>
          <p:nvPr/>
        </p:nvSpPr>
        <p:spPr>
          <a:xfrm>
            <a:off x="130175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EC22D6BA-36E9-4AD7-389A-0506D2901102}"/>
              </a:ext>
            </a:extLst>
          </p:cNvPr>
          <p:cNvSpPr/>
          <p:nvPr/>
        </p:nvSpPr>
        <p:spPr>
          <a:xfrm>
            <a:off x="131064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B6729BF7-637A-34B4-146D-190AA4E1E707}"/>
              </a:ext>
            </a:extLst>
          </p:cNvPr>
          <p:cNvSpPr/>
          <p:nvPr/>
        </p:nvSpPr>
        <p:spPr>
          <a:xfrm>
            <a:off x="131953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75504ED8-E87E-F269-0D3A-A2CD66BE2C31}"/>
              </a:ext>
            </a:extLst>
          </p:cNvPr>
          <p:cNvSpPr/>
          <p:nvPr/>
        </p:nvSpPr>
        <p:spPr>
          <a:xfrm>
            <a:off x="13284200" y="58864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EFC84AF-965D-F2C4-E549-72C4D10D368E}"/>
              </a:ext>
            </a:extLst>
          </p:cNvPr>
          <p:cNvSpPr/>
          <p:nvPr/>
        </p:nvSpPr>
        <p:spPr>
          <a:xfrm>
            <a:off x="12928600" y="5975350"/>
            <a:ext cx="88900" cy="88900"/>
          </a:xfrm>
          <a:prstGeom prst="rect">
            <a:avLst/>
          </a:prstGeom>
          <a:solidFill>
            <a:srgbClr val="60AC60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7995C7E-BB9B-8C32-B8B6-21DB29329343}"/>
              </a:ext>
            </a:extLst>
          </p:cNvPr>
          <p:cNvSpPr/>
          <p:nvPr/>
        </p:nvSpPr>
        <p:spPr>
          <a:xfrm>
            <a:off x="130175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A00C1C38-6615-996A-01C9-8055769F2168}"/>
              </a:ext>
            </a:extLst>
          </p:cNvPr>
          <p:cNvSpPr/>
          <p:nvPr/>
        </p:nvSpPr>
        <p:spPr>
          <a:xfrm>
            <a:off x="131064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05E5DB85-B877-6853-9954-004AB07D9E14}"/>
              </a:ext>
            </a:extLst>
          </p:cNvPr>
          <p:cNvSpPr/>
          <p:nvPr/>
        </p:nvSpPr>
        <p:spPr>
          <a:xfrm>
            <a:off x="131953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8797189B-8F68-240C-E2FB-E874F0ED5A7E}"/>
              </a:ext>
            </a:extLst>
          </p:cNvPr>
          <p:cNvSpPr/>
          <p:nvPr/>
        </p:nvSpPr>
        <p:spPr>
          <a:xfrm>
            <a:off x="13284200" y="5975350"/>
            <a:ext cx="88900" cy="88900"/>
          </a:xfrm>
          <a:prstGeom prst="rect">
            <a:avLst/>
          </a:prstGeom>
          <a:solidFill>
            <a:srgbClr val="FFFFFF"/>
          </a:solidFill>
          <a:ln w="4445">
            <a:solidFill>
              <a:srgbClr val="B4C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6" name="椭圆 275">
            <a:extLst>
              <a:ext uri="{FF2B5EF4-FFF2-40B4-BE49-F238E27FC236}">
                <a16:creationId xmlns:a16="http://schemas.microsoft.com/office/drawing/2014/main" id="{2C1ADC89-38F8-39EA-3565-288087ED51B0}"/>
              </a:ext>
            </a:extLst>
          </p:cNvPr>
          <p:cNvSpPr/>
          <p:nvPr/>
        </p:nvSpPr>
        <p:spPr>
          <a:xfrm>
            <a:off x="12827000" y="56578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1BACA6F7-1A42-AABA-77C4-10B7B60D4AD0}"/>
              </a:ext>
            </a:extLst>
          </p:cNvPr>
          <p:cNvSpPr/>
          <p:nvPr/>
        </p:nvSpPr>
        <p:spPr>
          <a:xfrm>
            <a:off x="12827000" y="5759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A6DE9567-7734-F4C9-5FB3-AB9DCC0C7E74}"/>
              </a:ext>
            </a:extLst>
          </p:cNvPr>
          <p:cNvSpPr/>
          <p:nvPr/>
        </p:nvSpPr>
        <p:spPr>
          <a:xfrm>
            <a:off x="12827000" y="58610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9" name="椭圆 278">
            <a:extLst>
              <a:ext uri="{FF2B5EF4-FFF2-40B4-BE49-F238E27FC236}">
                <a16:creationId xmlns:a16="http://schemas.microsoft.com/office/drawing/2014/main" id="{1AA394DA-377F-0627-B24B-2DA0C3BDC72C}"/>
              </a:ext>
            </a:extLst>
          </p:cNvPr>
          <p:cNvSpPr/>
          <p:nvPr/>
        </p:nvSpPr>
        <p:spPr>
          <a:xfrm>
            <a:off x="12827000" y="59626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0" name="椭圆 279">
            <a:extLst>
              <a:ext uri="{FF2B5EF4-FFF2-40B4-BE49-F238E27FC236}">
                <a16:creationId xmlns:a16="http://schemas.microsoft.com/office/drawing/2014/main" id="{134575EF-F0AE-A370-73A5-6B5614EBF535}"/>
              </a:ext>
            </a:extLst>
          </p:cNvPr>
          <p:cNvSpPr/>
          <p:nvPr/>
        </p:nvSpPr>
        <p:spPr>
          <a:xfrm>
            <a:off x="129794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1" name="椭圆 280">
            <a:extLst>
              <a:ext uri="{FF2B5EF4-FFF2-40B4-BE49-F238E27FC236}">
                <a16:creationId xmlns:a16="http://schemas.microsoft.com/office/drawing/2014/main" id="{54C219B6-ADB8-25B6-AD14-9F5D46126B44}"/>
              </a:ext>
            </a:extLst>
          </p:cNvPr>
          <p:cNvSpPr/>
          <p:nvPr/>
        </p:nvSpPr>
        <p:spPr>
          <a:xfrm>
            <a:off x="130810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2" name="椭圆 281">
            <a:extLst>
              <a:ext uri="{FF2B5EF4-FFF2-40B4-BE49-F238E27FC236}">
                <a16:creationId xmlns:a16="http://schemas.microsoft.com/office/drawing/2014/main" id="{2A0BBE1B-7660-E2BF-0B6F-6BFE5CE31F14}"/>
              </a:ext>
            </a:extLst>
          </p:cNvPr>
          <p:cNvSpPr/>
          <p:nvPr/>
        </p:nvSpPr>
        <p:spPr>
          <a:xfrm>
            <a:off x="131826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3" name="椭圆 282">
            <a:extLst>
              <a:ext uri="{FF2B5EF4-FFF2-40B4-BE49-F238E27FC236}">
                <a16:creationId xmlns:a16="http://schemas.microsoft.com/office/drawing/2014/main" id="{7FC928C7-5474-70AF-C9E4-F411092DE8F9}"/>
              </a:ext>
            </a:extLst>
          </p:cNvPr>
          <p:cNvSpPr/>
          <p:nvPr/>
        </p:nvSpPr>
        <p:spPr>
          <a:xfrm>
            <a:off x="13284200" y="6140450"/>
            <a:ext cx="44450" cy="44450"/>
          </a:xfrm>
          <a:prstGeom prst="ellipse">
            <a:avLst/>
          </a:prstGeom>
          <a:solidFill>
            <a:srgbClr val="1E8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84" name="直接箭头连接符 283">
            <a:extLst>
              <a:ext uri="{FF2B5EF4-FFF2-40B4-BE49-F238E27FC236}">
                <a16:creationId xmlns:a16="http://schemas.microsoft.com/office/drawing/2014/main" id="{6C4696D0-038F-6CEF-9FE6-7A3CB584982D}"/>
              </a:ext>
            </a:extLst>
          </p:cNvPr>
          <p:cNvCxnSpPr/>
          <p:nvPr/>
        </p:nvCxnSpPr>
        <p:spPr>
          <a:xfrm>
            <a:off x="13563600" y="5822950"/>
            <a:ext cx="596900" cy="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9924A93F-43CF-C25B-B17D-9E666B0E503C}"/>
              </a:ext>
            </a:extLst>
          </p:cNvPr>
          <p:cNvSpPr/>
          <p:nvPr/>
        </p:nvSpPr>
        <p:spPr>
          <a:xfrm>
            <a:off x="14224000" y="5289550"/>
            <a:ext cx="1016000" cy="7366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b="1">
                <a:solidFill>
                  <a:srgbClr val="1E822D"/>
                </a:solidFill>
                <a:latin typeface="Arial" panose="020B0604020202020204" pitchFamily="34" charset="0"/>
              </a:rPr>
              <a:t>Contact prior statistics
c = [density, maxprob,
rnafocus, atomfocus]</a:t>
            </a:r>
            <a:endParaRPr lang="zh-CN" altLang="en-US" sz="7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779BCA2A-B238-F64C-D3FE-AC05EFA170A1}"/>
              </a:ext>
            </a:extLst>
          </p:cNvPr>
          <p:cNvCxnSpPr/>
          <p:nvPr/>
        </p:nvCxnSpPr>
        <p:spPr>
          <a:xfrm>
            <a:off x="14732000" y="6026150"/>
            <a:ext cx="0" cy="2921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3189DAD5-7201-D5CF-369F-D69578F92C00}"/>
              </a:ext>
            </a:extLst>
          </p:cNvPr>
          <p:cNvCxnSpPr/>
          <p:nvPr/>
        </p:nvCxnSpPr>
        <p:spPr>
          <a:xfrm>
            <a:off x="13614400" y="4603750"/>
            <a:ext cx="0" cy="17145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9F959515-4C10-D694-7319-4A33E0AE041C}"/>
              </a:ext>
            </a:extLst>
          </p:cNvPr>
          <p:cNvSpPr/>
          <p:nvPr/>
        </p:nvSpPr>
        <p:spPr>
          <a:xfrm>
            <a:off x="12750800" y="6369050"/>
            <a:ext cx="2463800" cy="1397000"/>
          </a:xfrm>
          <a:prstGeom prst="roundRect">
            <a:avLst/>
          </a:prstGeom>
          <a:solidFill>
            <a:srgbClr val="F6F1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8A686DD8-3B48-576E-3887-81613BE494ED}"/>
              </a:ext>
            </a:extLst>
          </p:cNvPr>
          <p:cNvSpPr txBox="1"/>
          <p:nvPr/>
        </p:nvSpPr>
        <p:spPr>
          <a:xfrm>
            <a:off x="12928600" y="6457950"/>
            <a:ext cx="2133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6441B4"/>
                </a:solidFill>
                <a:latin typeface="Arial" panose="020B0604020202020204" pitchFamily="34" charset="0"/>
              </a:rPr>
              <a:t>Structural Contact Adapter (SCA)</a:t>
            </a:r>
            <a:endParaRPr lang="zh-CN" altLang="en-US" sz="10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0" name="矩形: 圆角 289">
            <a:extLst>
              <a:ext uri="{FF2B5EF4-FFF2-40B4-BE49-F238E27FC236}">
                <a16:creationId xmlns:a16="http://schemas.microsoft.com/office/drawing/2014/main" id="{23FA8786-1C49-6BE7-685A-C97DB9CFCCEA}"/>
              </a:ext>
            </a:extLst>
          </p:cNvPr>
          <p:cNvSpPr/>
          <p:nvPr/>
        </p:nvSpPr>
        <p:spPr>
          <a:xfrm>
            <a:off x="12877800" y="6737350"/>
            <a:ext cx="2209800" cy="30480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1. Contact-prior gate
g = softmax(MLP_gate([H,c]))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1" name="矩形: 圆角 290">
            <a:extLst>
              <a:ext uri="{FF2B5EF4-FFF2-40B4-BE49-F238E27FC236}">
                <a16:creationId xmlns:a16="http://schemas.microsoft.com/office/drawing/2014/main" id="{65F7237F-1279-CEE7-A07D-D63614C8A924}"/>
              </a:ext>
            </a:extLst>
          </p:cNvPr>
          <p:cNvSpPr/>
          <p:nvPr/>
        </p:nvSpPr>
        <p:spPr>
          <a:xfrm>
            <a:off x="12877800" y="7131050"/>
            <a:ext cx="2209800" cy="30480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2. Contact-gated view attention
H' = Attention(H,g)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2" name="矩形: 圆角 291">
            <a:extLst>
              <a:ext uri="{FF2B5EF4-FFF2-40B4-BE49-F238E27FC236}">
                <a16:creationId xmlns:a16="http://schemas.microsoft.com/office/drawing/2014/main" id="{F161CFC4-A4F6-A543-505D-EC83637FDB11}"/>
              </a:ext>
            </a:extLst>
          </p:cNvPr>
          <p:cNvSpPr/>
          <p:nvPr/>
        </p:nvSpPr>
        <p:spPr>
          <a:xfrm>
            <a:off x="12877800" y="7524750"/>
            <a:ext cx="2209800" cy="31750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3. Residual correction
Delta y = MLP_res([z_contact,pool(H'),y_base])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009808FF-2101-585A-11F3-5F8FE1988A77}"/>
              </a:ext>
            </a:extLst>
          </p:cNvPr>
          <p:cNvSpPr txBox="1"/>
          <p:nvPr/>
        </p:nvSpPr>
        <p:spPr>
          <a:xfrm>
            <a:off x="12750800" y="7880350"/>
            <a:ext cx="1016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1E52B4"/>
                </a:solidFill>
                <a:latin typeface="Arial" panose="020B0604020202020204" pitchFamily="34" charset="0"/>
              </a:rPr>
              <a:t>Base affinity path
(preserved backbone)</a:t>
            </a:r>
            <a:endParaRPr lang="zh-CN" altLang="en-US" sz="7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94" name="矩形: 圆角 293">
            <a:extLst>
              <a:ext uri="{FF2B5EF4-FFF2-40B4-BE49-F238E27FC236}">
                <a16:creationId xmlns:a16="http://schemas.microsoft.com/office/drawing/2014/main" id="{5D678AC1-D0A5-F6A1-98E7-4390349EBFAA}"/>
              </a:ext>
            </a:extLst>
          </p:cNvPr>
          <p:cNvSpPr/>
          <p:nvPr/>
        </p:nvSpPr>
        <p:spPr>
          <a:xfrm>
            <a:off x="12928600" y="8197850"/>
            <a:ext cx="952500" cy="406400"/>
          </a:xfrm>
          <a:prstGeom prst="roundRect">
            <a:avLst/>
          </a:prstGeom>
          <a:solidFill>
            <a:srgbClr val="F4F8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1E52B4"/>
                </a:solidFill>
                <a:latin typeface="Arial" panose="020B0604020202020204" pitchFamily="34" charset="0"/>
              </a:rPr>
              <a:t>Affinity head
y_base</a:t>
            </a:r>
            <a:endParaRPr lang="zh-CN" altLang="en-US" sz="8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042E094D-9FBB-FEDB-9DC7-4E3D8403E76A}"/>
              </a:ext>
            </a:extLst>
          </p:cNvPr>
          <p:cNvSpPr txBox="1"/>
          <p:nvPr/>
        </p:nvSpPr>
        <p:spPr>
          <a:xfrm>
            <a:off x="14287500" y="7880350"/>
            <a:ext cx="1016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700" b="1">
                <a:solidFill>
                  <a:srgbClr val="6441B4"/>
                </a:solidFill>
                <a:latin typeface="Arial" panose="020B0604020202020204" pitchFamily="34" charset="0"/>
              </a:rPr>
              <a:t>SCA output
(residual calibration)</a:t>
            </a:r>
            <a:endParaRPr lang="zh-CN" altLang="en-US" sz="7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C5EE4899-09DE-FC92-258A-6F6591B1A842}"/>
              </a:ext>
            </a:extLst>
          </p:cNvPr>
          <p:cNvSpPr/>
          <p:nvPr/>
        </p:nvSpPr>
        <p:spPr>
          <a:xfrm>
            <a:off x="14300200" y="8197850"/>
            <a:ext cx="939800" cy="406400"/>
          </a:xfrm>
          <a:prstGeom prst="roundRect">
            <a:avLst/>
          </a:prstGeom>
          <a:solidFill>
            <a:srgbClr val="FAF7FF"/>
          </a:solidFill>
          <a:ln w="13970">
            <a:solidFill>
              <a:srgbClr val="6441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b="1">
                <a:solidFill>
                  <a:srgbClr val="6441B4"/>
                </a:solidFill>
                <a:latin typeface="Arial" panose="020B0604020202020204" pitchFamily="34" charset="0"/>
              </a:rPr>
              <a:t>Residual correction
Delta y</a:t>
            </a:r>
            <a:endParaRPr lang="zh-CN" altLang="en-US" sz="800" b="1">
              <a:solidFill>
                <a:srgbClr val="6441B4"/>
              </a:solidFill>
              <a:latin typeface="Arial" panose="020B0604020202020204" pitchFamily="34" charset="0"/>
            </a:endParaRPr>
          </a:p>
        </p:txBody>
      </p:sp>
      <p:cxnSp>
        <p:nvCxnSpPr>
          <p:cNvPr id="297" name="直接箭头连接符 296">
            <a:extLst>
              <a:ext uri="{FF2B5EF4-FFF2-40B4-BE49-F238E27FC236}">
                <a16:creationId xmlns:a16="http://schemas.microsoft.com/office/drawing/2014/main" id="{EBCBF53A-83CF-17D6-56E3-8A06A554158B}"/>
              </a:ext>
            </a:extLst>
          </p:cNvPr>
          <p:cNvCxnSpPr/>
          <p:nvPr/>
        </p:nvCxnSpPr>
        <p:spPr>
          <a:xfrm>
            <a:off x="13411200" y="8604250"/>
            <a:ext cx="520700" cy="76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113569CF-2D77-0B3D-97D5-3A6F90D2DF2C}"/>
              </a:ext>
            </a:extLst>
          </p:cNvPr>
          <p:cNvCxnSpPr/>
          <p:nvPr/>
        </p:nvCxnSpPr>
        <p:spPr>
          <a:xfrm flipH="1">
            <a:off x="14224000" y="8604250"/>
            <a:ext cx="546100" cy="76200"/>
          </a:xfrm>
          <a:prstGeom prst="straightConnector1">
            <a:avLst/>
          </a:prstGeom>
          <a:ln w="11430">
            <a:solidFill>
              <a:srgbClr val="464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椭圆 298">
            <a:extLst>
              <a:ext uri="{FF2B5EF4-FFF2-40B4-BE49-F238E27FC236}">
                <a16:creationId xmlns:a16="http://schemas.microsoft.com/office/drawing/2014/main" id="{FC19A71F-6458-215E-D4EA-D7119B92D7BD}"/>
              </a:ext>
            </a:extLst>
          </p:cNvPr>
          <p:cNvSpPr/>
          <p:nvPr/>
        </p:nvSpPr>
        <p:spPr>
          <a:xfrm>
            <a:off x="13944600" y="859155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>
                <a:latin typeface="Arial" panose="020B0604020202020204" pitchFamily="34" charset="0"/>
              </a:rPr>
              <a:t>+</a:t>
            </a:r>
            <a:endParaRPr lang="zh-CN" altLang="en-US" sz="1100" b="1">
              <a:latin typeface="Arial" panose="020B0604020202020204" pitchFamily="34" charset="0"/>
            </a:endParaRPr>
          </a:p>
        </p:txBody>
      </p:sp>
      <p:sp>
        <p:nvSpPr>
          <p:cNvPr id="300" name="矩形: 圆角 299">
            <a:extLst>
              <a:ext uri="{FF2B5EF4-FFF2-40B4-BE49-F238E27FC236}">
                <a16:creationId xmlns:a16="http://schemas.microsoft.com/office/drawing/2014/main" id="{8172E845-98D5-3AAB-EDB6-7D607EA90541}"/>
              </a:ext>
            </a:extLst>
          </p:cNvPr>
          <p:cNvSpPr/>
          <p:nvPr/>
        </p:nvSpPr>
        <p:spPr>
          <a:xfrm>
            <a:off x="12890500" y="8807450"/>
            <a:ext cx="226060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altLang="zh-CN" sz="800" b="1">
                <a:solidFill>
                  <a:srgbClr val="000000"/>
                </a:solidFill>
                <a:latin typeface="Arial" panose="020B0604020202020204" pitchFamily="34" charset="0"/>
              </a:rPr>
              <a:t>Final prediction:
y_hat = y_base + Delta y
Final pKd</a:t>
            </a:r>
            <a:endParaRPr lang="zh-CN" altLang="en-US" sz="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1" name="矩形: 圆角 300">
            <a:extLst>
              <a:ext uri="{FF2B5EF4-FFF2-40B4-BE49-F238E27FC236}">
                <a16:creationId xmlns:a16="http://schemas.microsoft.com/office/drawing/2014/main" id="{B3C69B5A-C5D8-BC2A-746E-4FAEAE74A69D}"/>
              </a:ext>
            </a:extLst>
          </p:cNvPr>
          <p:cNvSpPr/>
          <p:nvPr/>
        </p:nvSpPr>
        <p:spPr>
          <a:xfrm>
            <a:off x="3530600" y="9505950"/>
            <a:ext cx="5461000" cy="635000"/>
          </a:xfrm>
          <a:prstGeom prst="roundRect">
            <a:avLst/>
          </a:prstGeom>
          <a:solidFill>
            <a:srgbClr val="EEFCEE"/>
          </a:solidFill>
          <a:ln w="1397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>
                <a:solidFill>
                  <a:srgbClr val="1E822D"/>
                </a:solidFill>
                <a:latin typeface="Arial" panose="020B0604020202020204" pitchFamily="34" charset="0"/>
              </a:rPr>
              <a:t>Stage 1: PDB contact pretraining
Input: RNA-ligand complex   |   Output: contact map   |   Loss: L_contact</a:t>
            </a:r>
            <a:endParaRPr lang="zh-CN" altLang="en-US" sz="11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A586F3F4-87B7-9D4C-7F94-ACC87256E7A3}"/>
              </a:ext>
            </a:extLst>
          </p:cNvPr>
          <p:cNvCxnSpPr/>
          <p:nvPr/>
        </p:nvCxnSpPr>
        <p:spPr>
          <a:xfrm>
            <a:off x="9017000" y="9823450"/>
            <a:ext cx="482600" cy="0"/>
          </a:xfrm>
          <a:prstGeom prst="straightConnector1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43472CA3-FF53-0ED1-0985-1520D6527C1E}"/>
              </a:ext>
            </a:extLst>
          </p:cNvPr>
          <p:cNvSpPr/>
          <p:nvPr/>
        </p:nvSpPr>
        <p:spPr>
          <a:xfrm>
            <a:off x="9525000" y="9505950"/>
            <a:ext cx="5994400" cy="635000"/>
          </a:xfrm>
          <a:prstGeom prst="roundRect">
            <a:avLst/>
          </a:prstGeom>
          <a:solidFill>
            <a:srgbClr val="F5F8FF"/>
          </a:solidFill>
          <a:ln w="13970">
            <a:solidFill>
              <a:srgbClr val="1E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solidFill>
                  <a:srgbClr val="1E52B4"/>
                </a:solidFill>
                <a:latin typeface="Arial" panose="020B0604020202020204" pitchFamily="34" charset="0"/>
              </a:rPr>
              <a:t>Stage 2: R-SIM affinity fine-tuning with SCA (affinity loss only)
Input: RNA sequence + ligand SMILES   |   Output: pKd   |   Loss: L_affinity
No contact labels required</a:t>
            </a:r>
            <a:endParaRPr lang="zh-CN" altLang="en-US" sz="1000" b="1">
              <a:solidFill>
                <a:srgbClr val="1E52B4"/>
              </a:solidFill>
              <a:latin typeface="Arial" panose="020B0604020202020204" pitchFamily="34" charset="0"/>
            </a:endParaRPr>
          </a:p>
        </p:txBody>
      </p:sp>
      <p:sp>
        <p:nvSpPr>
          <p:cNvPr id="304" name="矩形: 圆角 303">
            <a:extLst>
              <a:ext uri="{FF2B5EF4-FFF2-40B4-BE49-F238E27FC236}">
                <a16:creationId xmlns:a16="http://schemas.microsoft.com/office/drawing/2014/main" id="{46087465-9F26-0828-115E-7F3FCD4B4D86}"/>
              </a:ext>
            </a:extLst>
          </p:cNvPr>
          <p:cNvSpPr/>
          <p:nvPr/>
        </p:nvSpPr>
        <p:spPr>
          <a:xfrm>
            <a:off x="4953000" y="10267950"/>
            <a:ext cx="9144000" cy="279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19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25400" rIns="38100" bIns="25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cxnSp>
        <p:nvCxnSpPr>
          <p:cNvPr id="305" name="直接箭头连接符 304">
            <a:extLst>
              <a:ext uri="{FF2B5EF4-FFF2-40B4-BE49-F238E27FC236}">
                <a16:creationId xmlns:a16="http://schemas.microsoft.com/office/drawing/2014/main" id="{704D18AF-545E-D4ED-BDF3-60E1786884C8}"/>
              </a:ext>
            </a:extLst>
          </p:cNvPr>
          <p:cNvCxnSpPr/>
          <p:nvPr/>
        </p:nvCxnSpPr>
        <p:spPr>
          <a:xfrm>
            <a:off x="5461000" y="10407650"/>
            <a:ext cx="698500" cy="0"/>
          </a:xfrm>
          <a:prstGeom prst="straightConnector1">
            <a:avLst/>
          </a:prstGeom>
          <a:ln w="1524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文本框 305">
            <a:extLst>
              <a:ext uri="{FF2B5EF4-FFF2-40B4-BE49-F238E27FC236}">
                <a16:creationId xmlns:a16="http://schemas.microsoft.com/office/drawing/2014/main" id="{0D4EA6F9-5038-4C34-D23B-21AA5336AD16}"/>
              </a:ext>
            </a:extLst>
          </p:cNvPr>
          <p:cNvSpPr txBox="1"/>
          <p:nvPr/>
        </p:nvSpPr>
        <p:spPr>
          <a:xfrm>
            <a:off x="6248400" y="10306050"/>
            <a:ext cx="21590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Solid arrows = normal forward propagation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cxnSp>
        <p:nvCxnSpPr>
          <p:cNvPr id="307" name="直接箭头连接符 306">
            <a:extLst>
              <a:ext uri="{FF2B5EF4-FFF2-40B4-BE49-F238E27FC236}">
                <a16:creationId xmlns:a16="http://schemas.microsoft.com/office/drawing/2014/main" id="{B115A79B-A79F-5EAF-17F7-0CF9566DF8B2}"/>
              </a:ext>
            </a:extLst>
          </p:cNvPr>
          <p:cNvCxnSpPr/>
          <p:nvPr/>
        </p:nvCxnSpPr>
        <p:spPr>
          <a:xfrm>
            <a:off x="8636000" y="10407650"/>
            <a:ext cx="698500" cy="0"/>
          </a:xfrm>
          <a:prstGeom prst="straightConnector1">
            <a:avLst/>
          </a:prstGeom>
          <a:ln w="15240">
            <a:solidFill>
              <a:srgbClr val="46464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文本框 307">
            <a:extLst>
              <a:ext uri="{FF2B5EF4-FFF2-40B4-BE49-F238E27FC236}">
                <a16:creationId xmlns:a16="http://schemas.microsoft.com/office/drawing/2014/main" id="{7181EC29-BC43-1059-C8E6-F3841014049E}"/>
              </a:ext>
            </a:extLst>
          </p:cNvPr>
          <p:cNvSpPr txBox="1"/>
          <p:nvPr/>
        </p:nvSpPr>
        <p:spPr>
          <a:xfrm>
            <a:off x="9423400" y="10306050"/>
            <a:ext cx="31115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Dashed arrows = supervision / loss signal (Stage 1 only)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  <p:sp>
        <p:nvSpPr>
          <p:cNvPr id="309" name="椭圆 308">
            <a:extLst>
              <a:ext uri="{FF2B5EF4-FFF2-40B4-BE49-F238E27FC236}">
                <a16:creationId xmlns:a16="http://schemas.microsoft.com/office/drawing/2014/main" id="{A46B6A59-872D-9391-BEC1-65EB2F231791}"/>
              </a:ext>
            </a:extLst>
          </p:cNvPr>
          <p:cNvSpPr/>
          <p:nvPr/>
        </p:nvSpPr>
        <p:spPr>
          <a:xfrm>
            <a:off x="12573000" y="10306050"/>
            <a:ext cx="190500" cy="1905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b="1"/>
              <a:t>+</a:t>
            </a:r>
            <a:endParaRPr lang="zh-CN" altLang="en-US" sz="900" b="1"/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5D866398-E722-D634-2B70-825BE200EFB1}"/>
              </a:ext>
            </a:extLst>
          </p:cNvPr>
          <p:cNvSpPr txBox="1"/>
          <p:nvPr/>
        </p:nvSpPr>
        <p:spPr>
          <a:xfrm>
            <a:off x="12801600" y="10306050"/>
            <a:ext cx="15240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700">
                <a:solidFill>
                  <a:srgbClr val="464646"/>
                </a:solidFill>
                <a:latin typeface="Arial" panose="020B0604020202020204" pitchFamily="34" charset="0"/>
              </a:rPr>
              <a:t>= residual addition (sum)</a:t>
            </a:r>
            <a:endParaRPr lang="zh-CN" altLang="en-US" sz="700">
              <a:solidFill>
                <a:srgbClr val="46464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6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_STRUCTRSMA_TARGET_FIGURE1_MARKER" hidden="1">
            <a:extLst>
              <a:ext uri="{FF2B5EF4-FFF2-40B4-BE49-F238E27FC236}">
                <a16:creationId xmlns:a16="http://schemas.microsoft.com/office/drawing/2014/main" id="{EAFF81AC-C5B2-2731-B471-63A3BEE74BF2}"/>
              </a:ext>
            </a:extLst>
          </p:cNvPr>
          <p:cNvSpPr txBox="1"/>
          <p:nvPr/>
        </p:nvSpPr>
        <p:spPr>
          <a:xfrm>
            <a:off x="0" y="0"/>
            <a:ext cx="12700" cy="4103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endParaRPr lang="zh-CN" altLang="en-US" sz="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20CF56-FF26-FC5F-0084-8CE7325514C1}"/>
              </a:ext>
            </a:extLst>
          </p:cNvPr>
          <p:cNvSpPr txBox="1"/>
          <p:nvPr/>
        </p:nvSpPr>
        <p:spPr>
          <a:xfrm>
            <a:off x="5143500" y="76200"/>
            <a:ext cx="8763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00000"/>
                </a:solidFill>
                <a:latin typeface="Arial" panose="020B0604020202020204" pitchFamily="34" charset="0"/>
              </a:rPr>
              <a:t>Figure 1. Overall architecture of StructRSMA.</a:t>
            </a:r>
            <a:endParaRPr lang="zh-CN" altLang="en-US" sz="2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DF47B91-7197-B864-E3E3-2378F45880A8}"/>
              </a:ext>
            </a:extLst>
          </p:cNvPr>
          <p:cNvSpPr/>
          <p:nvPr/>
        </p:nvSpPr>
        <p:spPr>
          <a:xfrm>
            <a:off x="76200" y="660400"/>
            <a:ext cx="3429000" cy="10223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1302130-B6BD-7EB4-09E2-B0A548811721}"/>
              </a:ext>
            </a:extLst>
          </p:cNvPr>
          <p:cNvSpPr/>
          <p:nvPr/>
        </p:nvSpPr>
        <p:spPr>
          <a:xfrm>
            <a:off x="3657600" y="660400"/>
            <a:ext cx="5461000" cy="10223500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2EEDB17-0F22-7F6C-00CA-06F17B1C3F81}"/>
              </a:ext>
            </a:extLst>
          </p:cNvPr>
          <p:cNvSpPr/>
          <p:nvPr/>
        </p:nvSpPr>
        <p:spPr>
          <a:xfrm>
            <a:off x="9271000" y="660400"/>
            <a:ext cx="4826000" cy="102235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107AE3B-2F67-550A-56AA-3C880F8363CE}"/>
              </a:ext>
            </a:extLst>
          </p:cNvPr>
          <p:cNvSpPr/>
          <p:nvPr/>
        </p:nvSpPr>
        <p:spPr>
          <a:xfrm>
            <a:off x="14249400" y="660400"/>
            <a:ext cx="4724400" cy="10223500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3970">
            <a:solidFill>
              <a:srgbClr val="23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232323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2A06CC-38DF-969E-FD64-F9552C6043D9}"/>
              </a:ext>
            </a:extLst>
          </p:cNvPr>
          <p:cNvSpPr txBox="1"/>
          <p:nvPr/>
        </p:nvSpPr>
        <p:spPr>
          <a:xfrm>
            <a:off x="355600" y="774700"/>
            <a:ext cx="28575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</a:rPr>
              <a:t>A. Inputs and data sources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1465A5-CCCD-A1B9-499D-BB7860544670}"/>
              </a:ext>
            </a:extLst>
          </p:cNvPr>
          <p:cNvSpPr txBox="1"/>
          <p:nvPr/>
        </p:nvSpPr>
        <p:spPr>
          <a:xfrm>
            <a:off x="3937000" y="774700"/>
            <a:ext cx="4826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300" b="1" dirty="0">
                <a:solidFill>
                  <a:srgbClr val="000000"/>
                </a:solidFill>
                <a:latin typeface="Arial" panose="020B0604020202020204" pitchFamily="34" charset="0"/>
              </a:rPr>
              <a:t>B. </a:t>
            </a:r>
            <a:r>
              <a:rPr lang="en-US" altLang="zh-CN" sz="1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DeepRSMA</a:t>
            </a:r>
            <a:r>
              <a:rPr lang="en-US" altLang="zh-CN" sz="13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multiview</a:t>
            </a:r>
            <a:r>
              <a:rPr lang="en-US" altLang="zh-CN" sz="1300" b="1" dirty="0">
                <a:solidFill>
                  <a:srgbClr val="000000"/>
                </a:solidFill>
                <a:latin typeface="Arial" panose="020B0604020202020204" pitchFamily="34" charset="0"/>
              </a:rPr>
              <a:t> backbone preserved</a:t>
            </a:r>
            <a:endParaRPr lang="zh-CN" altLang="en-US" sz="13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9CC474-7DE1-5044-8545-593B615EDE3B}"/>
              </a:ext>
            </a:extLst>
          </p:cNvPr>
          <p:cNvSpPr txBox="1"/>
          <p:nvPr/>
        </p:nvSpPr>
        <p:spPr>
          <a:xfrm>
            <a:off x="10134600" y="774700"/>
            <a:ext cx="3175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C. Contact prediction and
structural pretraining</a:t>
            </a:r>
            <a:endParaRPr lang="zh-CN" altLang="en-US" sz="14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346D97-DC3E-57DF-8513-1AFC164C7DAD}"/>
              </a:ext>
            </a:extLst>
          </p:cNvPr>
          <p:cNvSpPr txBox="1"/>
          <p:nvPr/>
        </p:nvSpPr>
        <p:spPr>
          <a:xfrm>
            <a:off x="15049500" y="774700"/>
            <a:ext cx="3175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Arial" panose="020B0604020202020204" pitchFamily="34" charset="0"/>
              </a:rPr>
              <a:t>D. Structural Contact Adapter
for affinity prediction</a:t>
            </a:r>
            <a:endParaRPr lang="zh-CN" altLang="en-US" sz="1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19636A7-1CA8-24D6-CF67-163188538451}"/>
              </a:ext>
            </a:extLst>
          </p:cNvPr>
          <p:cNvSpPr/>
          <p:nvPr/>
        </p:nvSpPr>
        <p:spPr>
          <a:xfrm>
            <a:off x="215900" y="11557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651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600" b="1">
                <a:solidFill>
                  <a:srgbClr val="1E822D"/>
                </a:solidFill>
                <a:latin typeface="Arial" panose="020B0604020202020204" pitchFamily="34" charset="0"/>
              </a:rPr>
              <a:t>PDB RNA-ligand complexes</a:t>
            </a:r>
            <a:endParaRPr lang="zh-CN" altLang="en-US" sz="16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E10033D-E211-24D1-9988-7066AB57FD96}"/>
              </a:ext>
            </a:extLst>
          </p:cNvPr>
          <p:cNvCxnSpPr/>
          <p:nvPr/>
        </p:nvCxnSpPr>
        <p:spPr>
          <a:xfrm flipV="1">
            <a:off x="609600" y="2221230"/>
            <a:ext cx="176022" cy="176022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5FF05B3-3541-9E2D-0DFD-DF195D2A4939}"/>
              </a:ext>
            </a:extLst>
          </p:cNvPr>
          <p:cNvCxnSpPr/>
          <p:nvPr/>
        </p:nvCxnSpPr>
        <p:spPr>
          <a:xfrm flipV="1">
            <a:off x="785622" y="2101215"/>
            <a:ext cx="184023" cy="120015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5C319D5-6101-7E0E-05A3-3497A094C994}"/>
              </a:ext>
            </a:extLst>
          </p:cNvPr>
          <p:cNvCxnSpPr/>
          <p:nvPr/>
        </p:nvCxnSpPr>
        <p:spPr>
          <a:xfrm>
            <a:off x="969645" y="2101215"/>
            <a:ext cx="216027" cy="48006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C73F460-41C6-8316-5C56-68A2CD8B9FFB}"/>
              </a:ext>
            </a:extLst>
          </p:cNvPr>
          <p:cNvCxnSpPr/>
          <p:nvPr/>
        </p:nvCxnSpPr>
        <p:spPr>
          <a:xfrm>
            <a:off x="1185672" y="2149221"/>
            <a:ext cx="168021" cy="208026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8504552-C819-FBBD-4050-BD3FB5BA0402}"/>
              </a:ext>
            </a:extLst>
          </p:cNvPr>
          <p:cNvCxnSpPr/>
          <p:nvPr/>
        </p:nvCxnSpPr>
        <p:spPr>
          <a:xfrm>
            <a:off x="1416113" y="2388743"/>
            <a:ext cx="184023" cy="160020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9214885-D772-8053-E41B-BA87E2F9F1EB}"/>
              </a:ext>
            </a:extLst>
          </p:cNvPr>
          <p:cNvCxnSpPr/>
          <p:nvPr/>
        </p:nvCxnSpPr>
        <p:spPr>
          <a:xfrm flipV="1">
            <a:off x="1537716" y="2397252"/>
            <a:ext cx="232029" cy="120015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EA3738D-1899-F8B0-0CD6-4C32AF930593}"/>
              </a:ext>
            </a:extLst>
          </p:cNvPr>
          <p:cNvCxnSpPr/>
          <p:nvPr/>
        </p:nvCxnSpPr>
        <p:spPr>
          <a:xfrm flipV="1">
            <a:off x="1769745" y="2181225"/>
            <a:ext cx="200025" cy="216027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A2A3805-297E-11C3-9C42-3BC6B2B5ECD8}"/>
              </a:ext>
            </a:extLst>
          </p:cNvPr>
          <p:cNvCxnSpPr/>
          <p:nvPr/>
        </p:nvCxnSpPr>
        <p:spPr>
          <a:xfrm flipV="1">
            <a:off x="1969770" y="2093214"/>
            <a:ext cx="224028" cy="88011"/>
          </a:xfrm>
          <a:prstGeom prst="straightConnector1">
            <a:avLst/>
          </a:prstGeom>
          <a:ln w="25603">
            <a:solidFill>
              <a:srgbClr val="1E8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851DEF41-23EC-E86D-7A54-A869B7FCC6B3}"/>
              </a:ext>
            </a:extLst>
          </p:cNvPr>
          <p:cNvSpPr/>
          <p:nvPr/>
        </p:nvSpPr>
        <p:spPr>
          <a:xfrm>
            <a:off x="545592" y="2333244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2F3D5B5-FC31-C428-0C45-952E03515D6C}"/>
              </a:ext>
            </a:extLst>
          </p:cNvPr>
          <p:cNvSpPr/>
          <p:nvPr/>
        </p:nvSpPr>
        <p:spPr>
          <a:xfrm>
            <a:off x="905637" y="2037207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2AF602E-2CDA-0B0B-875C-CB169B2D77AE}"/>
              </a:ext>
            </a:extLst>
          </p:cNvPr>
          <p:cNvSpPr/>
          <p:nvPr/>
        </p:nvSpPr>
        <p:spPr>
          <a:xfrm>
            <a:off x="1289685" y="2293239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6ABF016-B2F1-8F52-6E46-758062F72296}"/>
              </a:ext>
            </a:extLst>
          </p:cNvPr>
          <p:cNvSpPr/>
          <p:nvPr/>
        </p:nvSpPr>
        <p:spPr>
          <a:xfrm>
            <a:off x="1705737" y="2333244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1E75C33-F176-792D-DA84-96D96C4178E4}"/>
              </a:ext>
            </a:extLst>
          </p:cNvPr>
          <p:cNvSpPr/>
          <p:nvPr/>
        </p:nvSpPr>
        <p:spPr>
          <a:xfrm>
            <a:off x="2129790" y="2029206"/>
            <a:ext cx="128016" cy="128016"/>
          </a:xfrm>
          <a:prstGeom prst="ellipse">
            <a:avLst/>
          </a:prstGeom>
          <a:solidFill>
            <a:srgbClr val="E6FFE6"/>
          </a:solidFill>
          <a:ln w="1778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BDBAAE8-FEBD-9AB3-7A06-76A50FE2A866}"/>
              </a:ext>
            </a:extLst>
          </p:cNvPr>
          <p:cNvCxnSpPr/>
          <p:nvPr/>
        </p:nvCxnSpPr>
        <p:spPr>
          <a:xfrm flipV="1">
            <a:off x="1752600" y="2045208"/>
            <a:ext cx="212725" cy="153162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E9801E2-5C2F-F5BA-C962-37307B7110F2}"/>
              </a:ext>
            </a:extLst>
          </p:cNvPr>
          <p:cNvCxnSpPr/>
          <p:nvPr/>
        </p:nvCxnSpPr>
        <p:spPr>
          <a:xfrm>
            <a:off x="1965325" y="2045208"/>
            <a:ext cx="229743" cy="110617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ECFBCC2-AE1D-74CB-E77C-EB3EBE0E8929}"/>
              </a:ext>
            </a:extLst>
          </p:cNvPr>
          <p:cNvCxnSpPr/>
          <p:nvPr/>
        </p:nvCxnSpPr>
        <p:spPr>
          <a:xfrm flipV="1">
            <a:off x="2195068" y="2011172"/>
            <a:ext cx="255270" cy="144653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EA8619A-6E8F-D722-ECBE-C24C08EBD5CE}"/>
              </a:ext>
            </a:extLst>
          </p:cNvPr>
          <p:cNvCxnSpPr/>
          <p:nvPr/>
        </p:nvCxnSpPr>
        <p:spPr>
          <a:xfrm>
            <a:off x="2450338" y="2011172"/>
            <a:ext cx="221234" cy="153162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1C7C024-FC48-E873-54ED-CA01283FBF8E}"/>
              </a:ext>
            </a:extLst>
          </p:cNvPr>
          <p:cNvCxnSpPr/>
          <p:nvPr/>
        </p:nvCxnSpPr>
        <p:spPr>
          <a:xfrm>
            <a:off x="2195068" y="2155825"/>
            <a:ext cx="170180" cy="255270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F13E84B-8BBA-FC99-DB15-1AA0D44F914E}"/>
              </a:ext>
            </a:extLst>
          </p:cNvPr>
          <p:cNvCxnSpPr/>
          <p:nvPr/>
        </p:nvCxnSpPr>
        <p:spPr>
          <a:xfrm flipH="1">
            <a:off x="2067433" y="2411095"/>
            <a:ext cx="297815" cy="0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0156EAC-FB3D-27F7-4401-DE457898C6B7}"/>
              </a:ext>
            </a:extLst>
          </p:cNvPr>
          <p:cNvCxnSpPr/>
          <p:nvPr/>
        </p:nvCxnSpPr>
        <p:spPr>
          <a:xfrm flipH="1" flipV="1">
            <a:off x="1752600" y="2198370"/>
            <a:ext cx="314833" cy="212725"/>
          </a:xfrm>
          <a:prstGeom prst="straightConnector1">
            <a:avLst/>
          </a:prstGeom>
          <a:ln w="11062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5195CE59-EE99-7A1D-46F9-88EDC29E6BD0}"/>
              </a:ext>
            </a:extLst>
          </p:cNvPr>
          <p:cNvSpPr/>
          <p:nvPr/>
        </p:nvSpPr>
        <p:spPr>
          <a:xfrm>
            <a:off x="1693037" y="2138807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0477BA2-7482-A0CF-B849-FCE28611FA9F}"/>
              </a:ext>
            </a:extLst>
          </p:cNvPr>
          <p:cNvSpPr/>
          <p:nvPr/>
        </p:nvSpPr>
        <p:spPr>
          <a:xfrm>
            <a:off x="1905762" y="1985645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9DB716B-AE12-CE75-B1AC-4029B3381977}"/>
              </a:ext>
            </a:extLst>
          </p:cNvPr>
          <p:cNvSpPr/>
          <p:nvPr/>
        </p:nvSpPr>
        <p:spPr>
          <a:xfrm>
            <a:off x="2135505" y="2096262"/>
            <a:ext cx="119126" cy="119126"/>
          </a:xfrm>
          <a:prstGeom prst="ellipse">
            <a:avLst/>
          </a:prstGeom>
          <a:solidFill>
            <a:srgbClr val="417DE6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593AF1D-3ECC-DBA4-49B8-E02546F65482}"/>
              </a:ext>
            </a:extLst>
          </p:cNvPr>
          <p:cNvSpPr/>
          <p:nvPr/>
        </p:nvSpPr>
        <p:spPr>
          <a:xfrm>
            <a:off x="2390775" y="1951609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5B141C0-6F9D-0790-5520-DD19E106F101}"/>
              </a:ext>
            </a:extLst>
          </p:cNvPr>
          <p:cNvSpPr/>
          <p:nvPr/>
        </p:nvSpPr>
        <p:spPr>
          <a:xfrm>
            <a:off x="2612009" y="2104771"/>
            <a:ext cx="119126" cy="119126"/>
          </a:xfrm>
          <a:prstGeom prst="ellipse">
            <a:avLst/>
          </a:prstGeom>
          <a:solidFill>
            <a:srgbClr val="DC3737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0DA228B-4278-69DB-730A-2B6D17A00903}"/>
              </a:ext>
            </a:extLst>
          </p:cNvPr>
          <p:cNvSpPr/>
          <p:nvPr/>
        </p:nvSpPr>
        <p:spPr>
          <a:xfrm>
            <a:off x="2305685" y="2351532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1D20C27-9AEC-ABE9-7BC9-6F70F94860BE}"/>
              </a:ext>
            </a:extLst>
          </p:cNvPr>
          <p:cNvSpPr/>
          <p:nvPr/>
        </p:nvSpPr>
        <p:spPr>
          <a:xfrm>
            <a:off x="2007870" y="2351532"/>
            <a:ext cx="119126" cy="11912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2E18499-4270-7999-00A7-EBF9331C6A71}"/>
              </a:ext>
            </a:extLst>
          </p:cNvPr>
          <p:cNvSpPr txBox="1"/>
          <p:nvPr/>
        </p:nvSpPr>
        <p:spPr>
          <a:xfrm>
            <a:off x="990600" y="3111500"/>
            <a:ext cx="1524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414141"/>
                </a:solidFill>
                <a:latin typeface="Arial" panose="020B0604020202020204" pitchFamily="34" charset="0"/>
              </a:rPr>
              <a:t>RNA 3D structure +
ligand coordinates</a:t>
            </a:r>
            <a:endParaRPr lang="zh-CN" altLang="en-US" sz="10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A2A2D24-0D4A-4331-DF81-D011E01D20E0}"/>
              </a:ext>
            </a:extLst>
          </p:cNvPr>
          <p:cNvCxnSpPr/>
          <p:nvPr/>
        </p:nvCxnSpPr>
        <p:spPr>
          <a:xfrm>
            <a:off x="1752600" y="3619500"/>
            <a:ext cx="0" cy="381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A148754-B62A-EF4F-6E3B-37F41DED8120}"/>
              </a:ext>
            </a:extLst>
          </p:cNvPr>
          <p:cNvSpPr txBox="1"/>
          <p:nvPr/>
        </p:nvSpPr>
        <p:spPr>
          <a:xfrm>
            <a:off x="1308100" y="3886200"/>
            <a:ext cx="1206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414141"/>
                </a:solidFill>
                <a:latin typeface="Arial" panose="020B0604020202020204" pitchFamily="34" charset="0"/>
              </a:rPr>
              <a:t>distance &lt; 4 A</a:t>
            </a:r>
            <a:endParaRPr lang="zh-CN" altLang="en-US" sz="10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C3CA304-2930-9EA7-BF18-F26DCE4CF194}"/>
              </a:ext>
            </a:extLst>
          </p:cNvPr>
          <p:cNvSpPr/>
          <p:nvPr/>
        </p:nvSpPr>
        <p:spPr>
          <a:xfrm>
            <a:off x="8890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57DC4E2-3718-6D14-857B-1956FFA84160}"/>
              </a:ext>
            </a:extLst>
          </p:cNvPr>
          <p:cNvSpPr/>
          <p:nvPr/>
        </p:nvSpPr>
        <p:spPr>
          <a:xfrm>
            <a:off x="10287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6CB3BD5-942D-57CB-FCC5-E74321B98ACB}"/>
              </a:ext>
            </a:extLst>
          </p:cNvPr>
          <p:cNvSpPr/>
          <p:nvPr/>
        </p:nvSpPr>
        <p:spPr>
          <a:xfrm>
            <a:off x="1168400" y="42799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075F273-C4D5-EB41-4FDD-ABCED12BFF5A}"/>
              </a:ext>
            </a:extLst>
          </p:cNvPr>
          <p:cNvSpPr/>
          <p:nvPr/>
        </p:nvSpPr>
        <p:spPr>
          <a:xfrm>
            <a:off x="13081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7AABFEB-0932-A59A-7C14-99B11CFB2309}"/>
              </a:ext>
            </a:extLst>
          </p:cNvPr>
          <p:cNvSpPr/>
          <p:nvPr/>
        </p:nvSpPr>
        <p:spPr>
          <a:xfrm>
            <a:off x="14478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898CD1E-58F5-BF8C-200A-5DE098D4A67E}"/>
              </a:ext>
            </a:extLst>
          </p:cNvPr>
          <p:cNvSpPr/>
          <p:nvPr/>
        </p:nvSpPr>
        <p:spPr>
          <a:xfrm>
            <a:off x="15875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A14A420-34ED-EA28-650A-4DCC1261B10E}"/>
              </a:ext>
            </a:extLst>
          </p:cNvPr>
          <p:cNvSpPr/>
          <p:nvPr/>
        </p:nvSpPr>
        <p:spPr>
          <a:xfrm>
            <a:off x="1727200" y="4279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10405B2-58CC-AB06-36B5-DF27CE2AB880}"/>
              </a:ext>
            </a:extLst>
          </p:cNvPr>
          <p:cNvSpPr/>
          <p:nvPr/>
        </p:nvSpPr>
        <p:spPr>
          <a:xfrm>
            <a:off x="8890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298430A-691C-A826-2A72-66383FF64BE5}"/>
              </a:ext>
            </a:extLst>
          </p:cNvPr>
          <p:cNvSpPr/>
          <p:nvPr/>
        </p:nvSpPr>
        <p:spPr>
          <a:xfrm>
            <a:off x="10287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08A27BA-AA0E-3E17-94C5-1094F662FA44}"/>
              </a:ext>
            </a:extLst>
          </p:cNvPr>
          <p:cNvSpPr/>
          <p:nvPr/>
        </p:nvSpPr>
        <p:spPr>
          <a:xfrm>
            <a:off x="11684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0803DD4-BA20-BF4D-38C9-D9ADA88E6638}"/>
              </a:ext>
            </a:extLst>
          </p:cNvPr>
          <p:cNvSpPr/>
          <p:nvPr/>
        </p:nvSpPr>
        <p:spPr>
          <a:xfrm>
            <a:off x="1308100" y="44196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5D2CEE4-9F0A-09F9-7D18-9EF44E00F39F}"/>
              </a:ext>
            </a:extLst>
          </p:cNvPr>
          <p:cNvSpPr/>
          <p:nvPr/>
        </p:nvSpPr>
        <p:spPr>
          <a:xfrm>
            <a:off x="14478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775ACD8-6A4C-9355-62AA-FC895A1CFAF4}"/>
              </a:ext>
            </a:extLst>
          </p:cNvPr>
          <p:cNvSpPr/>
          <p:nvPr/>
        </p:nvSpPr>
        <p:spPr>
          <a:xfrm>
            <a:off x="15875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7CE18C5-D944-504F-29AC-1790BBD0C854}"/>
              </a:ext>
            </a:extLst>
          </p:cNvPr>
          <p:cNvSpPr/>
          <p:nvPr/>
        </p:nvSpPr>
        <p:spPr>
          <a:xfrm>
            <a:off x="1727200" y="4419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3E36238-7A25-475C-5BB6-DCBC2B43F594}"/>
              </a:ext>
            </a:extLst>
          </p:cNvPr>
          <p:cNvSpPr/>
          <p:nvPr/>
        </p:nvSpPr>
        <p:spPr>
          <a:xfrm>
            <a:off x="8890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B542292-8EBF-EF3D-4433-6A21C7051E7B}"/>
              </a:ext>
            </a:extLst>
          </p:cNvPr>
          <p:cNvSpPr/>
          <p:nvPr/>
        </p:nvSpPr>
        <p:spPr>
          <a:xfrm>
            <a:off x="10287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1AF0ADB-0C18-87FA-B919-3FDB4445FD04}"/>
              </a:ext>
            </a:extLst>
          </p:cNvPr>
          <p:cNvSpPr/>
          <p:nvPr/>
        </p:nvSpPr>
        <p:spPr>
          <a:xfrm>
            <a:off x="1168400" y="45593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D677F12-E901-92D8-9BD7-F04F5F854397}"/>
              </a:ext>
            </a:extLst>
          </p:cNvPr>
          <p:cNvSpPr/>
          <p:nvPr/>
        </p:nvSpPr>
        <p:spPr>
          <a:xfrm>
            <a:off x="13081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D8DCBA-66FA-08D7-777F-305D7816DE2C}"/>
              </a:ext>
            </a:extLst>
          </p:cNvPr>
          <p:cNvSpPr/>
          <p:nvPr/>
        </p:nvSpPr>
        <p:spPr>
          <a:xfrm>
            <a:off x="14478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D371B21-07B4-1CD7-2689-52201D3B8B31}"/>
              </a:ext>
            </a:extLst>
          </p:cNvPr>
          <p:cNvSpPr/>
          <p:nvPr/>
        </p:nvSpPr>
        <p:spPr>
          <a:xfrm>
            <a:off x="15875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2552B0C-0AD8-BC88-153E-6574A0666F17}"/>
              </a:ext>
            </a:extLst>
          </p:cNvPr>
          <p:cNvSpPr/>
          <p:nvPr/>
        </p:nvSpPr>
        <p:spPr>
          <a:xfrm>
            <a:off x="1727200" y="4559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77525E7-6C3B-F59E-B4E4-3D82366CAF22}"/>
              </a:ext>
            </a:extLst>
          </p:cNvPr>
          <p:cNvSpPr/>
          <p:nvPr/>
        </p:nvSpPr>
        <p:spPr>
          <a:xfrm>
            <a:off x="8890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43320FA-38BC-9FF2-C0DC-E3BE0E8405F2}"/>
              </a:ext>
            </a:extLst>
          </p:cNvPr>
          <p:cNvSpPr/>
          <p:nvPr/>
        </p:nvSpPr>
        <p:spPr>
          <a:xfrm>
            <a:off x="10287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168AFE1-4AD8-91DC-2D35-A769CA68C12F}"/>
              </a:ext>
            </a:extLst>
          </p:cNvPr>
          <p:cNvSpPr/>
          <p:nvPr/>
        </p:nvSpPr>
        <p:spPr>
          <a:xfrm>
            <a:off x="11684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25B26C-651C-D5F4-97BB-655269A6D089}"/>
              </a:ext>
            </a:extLst>
          </p:cNvPr>
          <p:cNvSpPr/>
          <p:nvPr/>
        </p:nvSpPr>
        <p:spPr>
          <a:xfrm>
            <a:off x="13081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BC76B10-A620-F412-6E9F-DEAF4FBE741C}"/>
              </a:ext>
            </a:extLst>
          </p:cNvPr>
          <p:cNvSpPr/>
          <p:nvPr/>
        </p:nvSpPr>
        <p:spPr>
          <a:xfrm>
            <a:off x="1447800" y="46990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AA325F4-0AE5-CBCA-787F-3E7251A8D4D5}"/>
              </a:ext>
            </a:extLst>
          </p:cNvPr>
          <p:cNvSpPr/>
          <p:nvPr/>
        </p:nvSpPr>
        <p:spPr>
          <a:xfrm>
            <a:off x="15875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37A8730-AF8A-0B1D-B86E-81D73D830BC2}"/>
              </a:ext>
            </a:extLst>
          </p:cNvPr>
          <p:cNvSpPr/>
          <p:nvPr/>
        </p:nvSpPr>
        <p:spPr>
          <a:xfrm>
            <a:off x="1727200" y="46990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642450B-7DAC-9594-AC0D-60C3FFF91C1D}"/>
              </a:ext>
            </a:extLst>
          </p:cNvPr>
          <p:cNvSpPr/>
          <p:nvPr/>
        </p:nvSpPr>
        <p:spPr>
          <a:xfrm>
            <a:off x="8890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BF83E49-AFE2-B5ED-AC0B-1C7CEE5CF8CF}"/>
              </a:ext>
            </a:extLst>
          </p:cNvPr>
          <p:cNvSpPr/>
          <p:nvPr/>
        </p:nvSpPr>
        <p:spPr>
          <a:xfrm>
            <a:off x="10287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B9F37C6-7521-8FDE-E20F-F3861D7ED307}"/>
              </a:ext>
            </a:extLst>
          </p:cNvPr>
          <p:cNvSpPr/>
          <p:nvPr/>
        </p:nvSpPr>
        <p:spPr>
          <a:xfrm>
            <a:off x="11684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EFF68B9-8816-A3D7-55AE-3D1DF80F2C07}"/>
              </a:ext>
            </a:extLst>
          </p:cNvPr>
          <p:cNvSpPr/>
          <p:nvPr/>
        </p:nvSpPr>
        <p:spPr>
          <a:xfrm>
            <a:off x="1308100" y="48387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185FAEA-03E9-8D8F-29AC-18DEE6A43E5E}"/>
              </a:ext>
            </a:extLst>
          </p:cNvPr>
          <p:cNvSpPr/>
          <p:nvPr/>
        </p:nvSpPr>
        <p:spPr>
          <a:xfrm>
            <a:off x="14478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D4E9EC9-50D4-D314-BE60-58A549C6CECF}"/>
              </a:ext>
            </a:extLst>
          </p:cNvPr>
          <p:cNvSpPr/>
          <p:nvPr/>
        </p:nvSpPr>
        <p:spPr>
          <a:xfrm>
            <a:off x="15875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4B46B70-F70C-65DB-7DCA-742D93E79FC1}"/>
              </a:ext>
            </a:extLst>
          </p:cNvPr>
          <p:cNvSpPr/>
          <p:nvPr/>
        </p:nvSpPr>
        <p:spPr>
          <a:xfrm>
            <a:off x="1727200" y="48387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A041059-19A0-1389-9157-4A7185E26D76}"/>
              </a:ext>
            </a:extLst>
          </p:cNvPr>
          <p:cNvSpPr/>
          <p:nvPr/>
        </p:nvSpPr>
        <p:spPr>
          <a:xfrm>
            <a:off x="8890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1B7504F-1D07-3174-C050-09493CD0DBA6}"/>
              </a:ext>
            </a:extLst>
          </p:cNvPr>
          <p:cNvSpPr/>
          <p:nvPr/>
        </p:nvSpPr>
        <p:spPr>
          <a:xfrm>
            <a:off x="10287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FAE0360-E8BF-97CB-3F9E-E15178DF4DDE}"/>
              </a:ext>
            </a:extLst>
          </p:cNvPr>
          <p:cNvSpPr/>
          <p:nvPr/>
        </p:nvSpPr>
        <p:spPr>
          <a:xfrm>
            <a:off x="11684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5FFA7BA-E209-47C7-1552-A3E69B0BD55B}"/>
              </a:ext>
            </a:extLst>
          </p:cNvPr>
          <p:cNvSpPr/>
          <p:nvPr/>
        </p:nvSpPr>
        <p:spPr>
          <a:xfrm>
            <a:off x="13081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20A640E-8874-08F3-273F-543E4F9FFBBF}"/>
              </a:ext>
            </a:extLst>
          </p:cNvPr>
          <p:cNvSpPr/>
          <p:nvPr/>
        </p:nvSpPr>
        <p:spPr>
          <a:xfrm>
            <a:off x="14478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07B0FB0-331B-05A7-A5AC-08A8EE5AD3F2}"/>
              </a:ext>
            </a:extLst>
          </p:cNvPr>
          <p:cNvSpPr/>
          <p:nvPr/>
        </p:nvSpPr>
        <p:spPr>
          <a:xfrm>
            <a:off x="15875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DC711B8-F560-FB36-E351-C0AB48DC3144}"/>
              </a:ext>
            </a:extLst>
          </p:cNvPr>
          <p:cNvSpPr/>
          <p:nvPr/>
        </p:nvSpPr>
        <p:spPr>
          <a:xfrm>
            <a:off x="1727200" y="49784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BB4E0734-50A4-0F23-5D55-866A9EE45DC7}"/>
              </a:ext>
            </a:extLst>
          </p:cNvPr>
          <p:cNvSpPr/>
          <p:nvPr/>
        </p:nvSpPr>
        <p:spPr>
          <a:xfrm>
            <a:off x="723900" y="4305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E00CE3CB-DA11-21AE-FF26-78FECB91AAA3}"/>
              </a:ext>
            </a:extLst>
          </p:cNvPr>
          <p:cNvSpPr/>
          <p:nvPr/>
        </p:nvSpPr>
        <p:spPr>
          <a:xfrm>
            <a:off x="723900" y="4445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4E2B961D-A870-B4E3-05B4-4D94C77B1925}"/>
              </a:ext>
            </a:extLst>
          </p:cNvPr>
          <p:cNvSpPr/>
          <p:nvPr/>
        </p:nvSpPr>
        <p:spPr>
          <a:xfrm>
            <a:off x="723900" y="45847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D3C247F-FFDA-8371-3471-B1F0ED500E09}"/>
              </a:ext>
            </a:extLst>
          </p:cNvPr>
          <p:cNvSpPr/>
          <p:nvPr/>
        </p:nvSpPr>
        <p:spPr>
          <a:xfrm>
            <a:off x="723900" y="472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9806D407-B8CE-5BA4-2756-C072C48F857D}"/>
              </a:ext>
            </a:extLst>
          </p:cNvPr>
          <p:cNvSpPr/>
          <p:nvPr/>
        </p:nvSpPr>
        <p:spPr>
          <a:xfrm>
            <a:off x="723900" y="48641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87C9721F-F07D-7526-F0CA-AC2E62E382E9}"/>
              </a:ext>
            </a:extLst>
          </p:cNvPr>
          <p:cNvSpPr/>
          <p:nvPr/>
        </p:nvSpPr>
        <p:spPr>
          <a:xfrm>
            <a:off x="9398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FD6E36AB-ACB2-6296-B3FD-6E3C554F5AF9}"/>
              </a:ext>
            </a:extLst>
          </p:cNvPr>
          <p:cNvSpPr/>
          <p:nvPr/>
        </p:nvSpPr>
        <p:spPr>
          <a:xfrm>
            <a:off x="11049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C04C05C3-4B47-B9BC-DE05-55655F42D468}"/>
              </a:ext>
            </a:extLst>
          </p:cNvPr>
          <p:cNvSpPr/>
          <p:nvPr/>
        </p:nvSpPr>
        <p:spPr>
          <a:xfrm>
            <a:off x="12700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E8AE040-1EE0-5815-F954-9AF951D125E7}"/>
              </a:ext>
            </a:extLst>
          </p:cNvPr>
          <p:cNvSpPr/>
          <p:nvPr/>
        </p:nvSpPr>
        <p:spPr>
          <a:xfrm>
            <a:off x="14351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BE88073F-D5FF-89F6-22BB-70D8BAE68DC7}"/>
              </a:ext>
            </a:extLst>
          </p:cNvPr>
          <p:cNvSpPr/>
          <p:nvPr/>
        </p:nvSpPr>
        <p:spPr>
          <a:xfrm>
            <a:off x="1600200" y="52705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13E9E3F-6CF4-B259-C0F9-C6D730E15830}"/>
              </a:ext>
            </a:extLst>
          </p:cNvPr>
          <p:cNvSpPr txBox="1"/>
          <p:nvPr/>
        </p:nvSpPr>
        <p:spPr>
          <a:xfrm>
            <a:off x="2032000" y="4254500"/>
            <a:ext cx="1244600" cy="99514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000000"/>
                </a:solidFill>
                <a:latin typeface="Arial" panose="020B0604020202020204" pitchFamily="34" charset="0"/>
              </a:rPr>
              <a:t>Contact map
C in {0,1}^{p x q}
rows = RNA
nucleotides
columns = ligand
atoms</a:t>
            </a:r>
            <a:endParaRPr lang="zh-CN" altLang="en-US" sz="9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D764DC98-C66C-420E-D385-54C69DF5BA1D}"/>
              </a:ext>
            </a:extLst>
          </p:cNvPr>
          <p:cNvSpPr/>
          <p:nvPr/>
        </p:nvSpPr>
        <p:spPr>
          <a:xfrm>
            <a:off x="406400" y="5905500"/>
            <a:ext cx="2603500" cy="5715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524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E822D"/>
                </a:solidFill>
                <a:latin typeface="Arial" panose="020B0604020202020204" pitchFamily="34" charset="0"/>
              </a:rPr>
              <a:t>Structure supervision
from PDB complexes</a:t>
            </a:r>
            <a:endParaRPr lang="zh-CN" altLang="en-US" sz="10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653DEE4E-9786-0FAF-79E9-833005F90FAB}"/>
              </a:ext>
            </a:extLst>
          </p:cNvPr>
          <p:cNvSpPr/>
          <p:nvPr/>
        </p:nvSpPr>
        <p:spPr>
          <a:xfrm>
            <a:off x="215900" y="69215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1651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600" b="1">
                <a:solidFill>
                  <a:srgbClr val="1C52B4"/>
                </a:solidFill>
                <a:latin typeface="Arial" panose="020B0604020202020204" pitchFamily="34" charset="0"/>
              </a:rPr>
              <a:t>R-SIM affinity dataset</a:t>
            </a:r>
            <a:endParaRPr lang="zh-CN" altLang="en-US" sz="16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3329BD49-3F05-A6D5-6C7F-533A34019BE8}"/>
              </a:ext>
            </a:extLst>
          </p:cNvPr>
          <p:cNvSpPr txBox="1"/>
          <p:nvPr/>
        </p:nvSpPr>
        <p:spPr>
          <a:xfrm>
            <a:off x="533400" y="77089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RNA sequence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61363A5-CEA3-E29B-0840-83F3470A5394}"/>
              </a:ext>
            </a:extLst>
          </p:cNvPr>
          <p:cNvSpPr/>
          <p:nvPr/>
        </p:nvSpPr>
        <p:spPr>
          <a:xfrm>
            <a:off x="533400" y="8001000"/>
            <a:ext cx="1714500" cy="3556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A     U     G     C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E9F76CA-31E7-9BE0-72F3-F30E8A509024}"/>
              </a:ext>
            </a:extLst>
          </p:cNvPr>
          <p:cNvSpPr txBox="1"/>
          <p:nvPr/>
        </p:nvSpPr>
        <p:spPr>
          <a:xfrm>
            <a:off x="533400" y="84836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Ligand SMILES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955B66A2-2713-5056-7C16-EECAF44D0C88}"/>
              </a:ext>
            </a:extLst>
          </p:cNvPr>
          <p:cNvSpPr/>
          <p:nvPr/>
        </p:nvSpPr>
        <p:spPr>
          <a:xfrm>
            <a:off x="533400" y="8775700"/>
            <a:ext cx="2032000" cy="3556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>
                <a:solidFill>
                  <a:srgbClr val="1C52B4"/>
                </a:solidFill>
                <a:latin typeface="Arial" panose="020B0604020202020204" pitchFamily="34" charset="0"/>
              </a:rPr>
              <a:t>SMILES: CCO...</a:t>
            </a:r>
            <a:endParaRPr lang="zh-CN" altLang="en-US" sz="1000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8CE1651-84CC-90F9-0504-83581FF20099}"/>
              </a:ext>
            </a:extLst>
          </p:cNvPr>
          <p:cNvSpPr txBox="1"/>
          <p:nvPr/>
        </p:nvSpPr>
        <p:spPr>
          <a:xfrm>
            <a:off x="533400" y="9296400"/>
            <a:ext cx="6985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</a:rPr>
              <a:t>pKd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FD658C4-34FF-40EC-75ED-9292AE501CA5}"/>
              </a:ext>
            </a:extLst>
          </p:cNvPr>
          <p:cNvSpPr/>
          <p:nvPr/>
        </p:nvSpPr>
        <p:spPr>
          <a:xfrm>
            <a:off x="419100" y="9779000"/>
            <a:ext cx="2603500" cy="584200"/>
          </a:xfrm>
          <a:prstGeom prst="roundRect">
            <a:avLst>
              <a:gd name="adj" fmla="val 8000"/>
            </a:avLst>
          </a:prstGeom>
          <a:solidFill>
            <a:srgbClr val="F6FAFF"/>
          </a:solidFill>
          <a:ln w="1397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Affinity supervision
from R-SIM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3A94C92-7263-3E91-6346-5D57196F27F4}"/>
              </a:ext>
            </a:extLst>
          </p:cNvPr>
          <p:cNvSpPr txBox="1"/>
          <p:nvPr/>
        </p:nvSpPr>
        <p:spPr>
          <a:xfrm>
            <a:off x="4991100" y="1117600"/>
            <a:ext cx="279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Original DeepRSMA backbone preserved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DC1787D-C284-A34A-591C-D6AA901C0C56}"/>
              </a:ext>
            </a:extLst>
          </p:cNvPr>
          <p:cNvSpPr txBox="1"/>
          <p:nvPr/>
        </p:nvSpPr>
        <p:spPr>
          <a:xfrm>
            <a:off x="4635500" y="1409700"/>
            <a:ext cx="127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RNA side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1A480B2-4ECC-4973-0EC6-06FCFFC59927}"/>
              </a:ext>
            </a:extLst>
          </p:cNvPr>
          <p:cNvSpPr txBox="1"/>
          <p:nvPr/>
        </p:nvSpPr>
        <p:spPr>
          <a:xfrm>
            <a:off x="7073900" y="1409700"/>
            <a:ext cx="13335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F26012"/>
                </a:solidFill>
                <a:latin typeface="Arial" panose="020B0604020202020204" pitchFamily="34" charset="0"/>
              </a:rPr>
              <a:t>Ligand side</a:t>
            </a:r>
            <a:endParaRPr lang="zh-CN" altLang="en-US" sz="1100" b="1">
              <a:solidFill>
                <a:srgbClr val="F26012"/>
              </a:solidFill>
              <a:latin typeface="Arial" panose="020B0604020202020204" pitchFamily="34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A9074C2-78AC-BA57-479E-6DEF6635797B}"/>
              </a:ext>
            </a:extLst>
          </p:cNvPr>
          <p:cNvSpPr/>
          <p:nvPr/>
        </p:nvSpPr>
        <p:spPr>
          <a:xfrm>
            <a:off x="3822700" y="17272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1651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pt-BR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RNA sequence branch
RNA sequence
A   U   G   C
RNA sequence encoder
H_RS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020B7A60-C8C1-CB41-08E2-81F3EDEDDC49}"/>
              </a:ext>
            </a:extLst>
          </p:cNvPr>
          <p:cNvSpPr/>
          <p:nvPr/>
        </p:nvSpPr>
        <p:spPr>
          <a:xfrm>
            <a:off x="3822700" y="39370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ECFDFD"/>
          </a:solidFill>
          <a:ln w="16510"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100" b="1">
                <a:solidFill>
                  <a:srgbClr val="1291A0"/>
                </a:solidFill>
                <a:latin typeface="Arial" panose="020B0604020202020204" pitchFamily="34" charset="0"/>
              </a:rPr>
              <a:t>RNA graph branch
RNA secondary /
contact graph
RNA graph encoder
H_RG</a:t>
            </a:r>
            <a:endParaRPr lang="zh-CN" altLang="en-US" sz="1100" b="1">
              <a:solidFill>
                <a:srgbClr val="1291A0"/>
              </a:solidFill>
              <a:latin typeface="Arial" panose="020B0604020202020204" pitchFamily="34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64ED737B-B84C-8A2A-1A6C-D48F3A8A9BD9}"/>
              </a:ext>
            </a:extLst>
          </p:cNvPr>
          <p:cNvSpPr/>
          <p:nvPr/>
        </p:nvSpPr>
        <p:spPr>
          <a:xfrm>
            <a:off x="6540500" y="17272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 w="16510"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50" b="1">
                <a:solidFill>
                  <a:srgbClr val="F26012"/>
                </a:solidFill>
                <a:latin typeface="Arial" panose="020B0604020202020204" pitchFamily="34" charset="0"/>
              </a:rPr>
              <a:t>Molecule sequence branch
Ligand SMILES
SMILES: CCO...
Molecule sequence
encoder
H_MS</a:t>
            </a:r>
            <a:endParaRPr lang="zh-CN" altLang="en-US" sz="1050" b="1">
              <a:solidFill>
                <a:srgbClr val="F26012"/>
              </a:solidFill>
              <a:latin typeface="Arial" panose="020B0604020202020204" pitchFamily="34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23534AA1-5C61-1DA8-DC3E-9105CA7817D9}"/>
              </a:ext>
            </a:extLst>
          </p:cNvPr>
          <p:cNvSpPr/>
          <p:nvPr/>
        </p:nvSpPr>
        <p:spPr>
          <a:xfrm>
            <a:off x="6540500" y="3937000"/>
            <a:ext cx="2260600" cy="1968500"/>
          </a:xfrm>
          <a:prstGeom prst="roundRect">
            <a:avLst>
              <a:gd name="adj" fmla="val 8000"/>
            </a:avLst>
          </a:prstGeom>
          <a:solidFill>
            <a:srgbClr val="FFEEEE"/>
          </a:solidFill>
          <a:ln w="16510"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50" b="1">
                <a:solidFill>
                  <a:srgbClr val="D42D2D"/>
                </a:solidFill>
                <a:latin typeface="Arial" panose="020B0604020202020204" pitchFamily="34" charset="0"/>
              </a:rPr>
              <a:t>Molecule graph branch
Molecular
graph
Molecule graph
encoder
H_MG</a:t>
            </a:r>
            <a:endParaRPr lang="zh-CN" altLang="en-US" sz="105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CD876C35-958C-E856-C6BC-2F2E8602FF8B}"/>
              </a:ext>
            </a:extLst>
          </p:cNvPr>
          <p:cNvCxnSpPr/>
          <p:nvPr/>
        </p:nvCxnSpPr>
        <p:spPr>
          <a:xfrm flipV="1">
            <a:off x="7162800" y="4524248"/>
            <a:ext cx="165100" cy="118872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0E27748-EAE5-7D02-DC23-C3BD1D6B2F1A}"/>
              </a:ext>
            </a:extLst>
          </p:cNvPr>
          <p:cNvCxnSpPr/>
          <p:nvPr/>
        </p:nvCxnSpPr>
        <p:spPr>
          <a:xfrm>
            <a:off x="7327900" y="4524248"/>
            <a:ext cx="178308" cy="85852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38A71ACA-E6EC-8687-A08C-49CFBB0BD835}"/>
              </a:ext>
            </a:extLst>
          </p:cNvPr>
          <p:cNvCxnSpPr/>
          <p:nvPr/>
        </p:nvCxnSpPr>
        <p:spPr>
          <a:xfrm flipV="1">
            <a:off x="7506208" y="4497832"/>
            <a:ext cx="198120" cy="112268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DD55D6-71D4-26FA-E026-31A17896B3EB}"/>
              </a:ext>
            </a:extLst>
          </p:cNvPr>
          <p:cNvCxnSpPr/>
          <p:nvPr/>
        </p:nvCxnSpPr>
        <p:spPr>
          <a:xfrm>
            <a:off x="7704328" y="4497832"/>
            <a:ext cx="171704" cy="118872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135ACD2F-41B4-BBF6-F554-C16C84E9858D}"/>
              </a:ext>
            </a:extLst>
          </p:cNvPr>
          <p:cNvCxnSpPr/>
          <p:nvPr/>
        </p:nvCxnSpPr>
        <p:spPr>
          <a:xfrm>
            <a:off x="7506208" y="4610100"/>
            <a:ext cx="132080" cy="198120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531742D2-409F-CF09-BA1C-5674D1316AF0}"/>
              </a:ext>
            </a:extLst>
          </p:cNvPr>
          <p:cNvCxnSpPr/>
          <p:nvPr/>
        </p:nvCxnSpPr>
        <p:spPr>
          <a:xfrm flipH="1">
            <a:off x="7407148" y="4808220"/>
            <a:ext cx="231140" cy="0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B9067CC9-5A59-E0B7-ECB7-9D2ED8212DD3}"/>
              </a:ext>
            </a:extLst>
          </p:cNvPr>
          <p:cNvCxnSpPr/>
          <p:nvPr/>
        </p:nvCxnSpPr>
        <p:spPr>
          <a:xfrm flipH="1" flipV="1">
            <a:off x="7162800" y="4643120"/>
            <a:ext cx="244348" cy="165100"/>
          </a:xfrm>
          <a:prstGeom prst="straightConnector1">
            <a:avLst/>
          </a:prstGeom>
          <a:ln w="8585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37E23142-387B-763D-AE9A-FC7D679FA3B7}"/>
              </a:ext>
            </a:extLst>
          </p:cNvPr>
          <p:cNvSpPr/>
          <p:nvPr/>
        </p:nvSpPr>
        <p:spPr>
          <a:xfrm>
            <a:off x="7116572" y="4596892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C07C77C7-CDBA-03EF-55BD-CE4FFB39E325}"/>
              </a:ext>
            </a:extLst>
          </p:cNvPr>
          <p:cNvSpPr/>
          <p:nvPr/>
        </p:nvSpPr>
        <p:spPr>
          <a:xfrm>
            <a:off x="7281672" y="4478020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93439048-5DF4-3414-6466-830D78EC2B13}"/>
              </a:ext>
            </a:extLst>
          </p:cNvPr>
          <p:cNvSpPr/>
          <p:nvPr/>
        </p:nvSpPr>
        <p:spPr>
          <a:xfrm>
            <a:off x="7459980" y="4563872"/>
            <a:ext cx="92457" cy="92456"/>
          </a:xfrm>
          <a:prstGeom prst="ellipse">
            <a:avLst/>
          </a:prstGeom>
          <a:solidFill>
            <a:srgbClr val="417DE6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E6EFA1BC-2BE1-3F9D-BB20-ACA19118B167}"/>
              </a:ext>
            </a:extLst>
          </p:cNvPr>
          <p:cNvSpPr/>
          <p:nvPr/>
        </p:nvSpPr>
        <p:spPr>
          <a:xfrm>
            <a:off x="7658100" y="4451604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707832CE-B9D3-CE0F-3661-AB693D80982A}"/>
              </a:ext>
            </a:extLst>
          </p:cNvPr>
          <p:cNvSpPr/>
          <p:nvPr/>
        </p:nvSpPr>
        <p:spPr>
          <a:xfrm>
            <a:off x="7829804" y="4570476"/>
            <a:ext cx="92457" cy="92456"/>
          </a:xfrm>
          <a:prstGeom prst="ellipse">
            <a:avLst/>
          </a:prstGeom>
          <a:solidFill>
            <a:srgbClr val="DC3737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77F79CBF-6414-C767-E62B-3BBB0F018AF6}"/>
              </a:ext>
            </a:extLst>
          </p:cNvPr>
          <p:cNvSpPr/>
          <p:nvPr/>
        </p:nvSpPr>
        <p:spPr>
          <a:xfrm>
            <a:off x="7592060" y="4761992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024D0C5-9639-36E4-B12B-A39F192F3DD1}"/>
              </a:ext>
            </a:extLst>
          </p:cNvPr>
          <p:cNvSpPr/>
          <p:nvPr/>
        </p:nvSpPr>
        <p:spPr>
          <a:xfrm>
            <a:off x="7360920" y="4761992"/>
            <a:ext cx="92456" cy="92456"/>
          </a:xfrm>
          <a:prstGeom prst="ellipse">
            <a:avLst/>
          </a:prstGeom>
          <a:solidFill>
            <a:srgbClr val="F2F2F2"/>
          </a:solidFill>
          <a:ln w="889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72C9E686-A879-A03B-32DA-5E26476D58F0}"/>
              </a:ext>
            </a:extLst>
          </p:cNvPr>
          <p:cNvCxnSpPr/>
          <p:nvPr/>
        </p:nvCxnSpPr>
        <p:spPr>
          <a:xfrm>
            <a:off x="4953000" y="3695700"/>
            <a:ext cx="0" cy="241300"/>
          </a:xfrm>
          <a:prstGeom prst="straightConnector1">
            <a:avLst/>
          </a:prstGeom>
          <a:ln w="12700">
            <a:solidFill>
              <a:srgbClr val="4141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7BD72F5-B9EF-0E95-42BF-4C07C9B6129C}"/>
              </a:ext>
            </a:extLst>
          </p:cNvPr>
          <p:cNvCxnSpPr/>
          <p:nvPr/>
        </p:nvCxnSpPr>
        <p:spPr>
          <a:xfrm>
            <a:off x="7670800" y="3695700"/>
            <a:ext cx="0" cy="241300"/>
          </a:xfrm>
          <a:prstGeom prst="straightConnector1">
            <a:avLst/>
          </a:prstGeom>
          <a:ln w="12700">
            <a:solidFill>
              <a:srgbClr val="4141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5244D538-4AB8-4C14-E382-3FB342B64085}"/>
              </a:ext>
            </a:extLst>
          </p:cNvPr>
          <p:cNvCxnSpPr/>
          <p:nvPr/>
        </p:nvCxnSpPr>
        <p:spPr>
          <a:xfrm>
            <a:off x="4953000" y="5905500"/>
            <a:ext cx="0" cy="5080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E9D1E831-B662-FF07-C23B-2A022C61325F}"/>
              </a:ext>
            </a:extLst>
          </p:cNvPr>
          <p:cNvCxnSpPr/>
          <p:nvPr/>
        </p:nvCxnSpPr>
        <p:spPr>
          <a:xfrm>
            <a:off x="7670800" y="5905500"/>
            <a:ext cx="0" cy="5080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D19D3551-1C52-28C8-D186-7EDD6EAEB099}"/>
              </a:ext>
            </a:extLst>
          </p:cNvPr>
          <p:cNvCxnSpPr/>
          <p:nvPr/>
        </p:nvCxnSpPr>
        <p:spPr>
          <a:xfrm flipH="1">
            <a:off x="4724400" y="6413500"/>
            <a:ext cx="228600" cy="127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DFE0FF1E-5D8E-AD0E-0036-54E910C0AE79}"/>
              </a:ext>
            </a:extLst>
          </p:cNvPr>
          <p:cNvCxnSpPr/>
          <p:nvPr/>
        </p:nvCxnSpPr>
        <p:spPr>
          <a:xfrm>
            <a:off x="7670800" y="6413500"/>
            <a:ext cx="266700" cy="127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8EE1343A-0115-B913-BB49-89B079F0AFD6}"/>
              </a:ext>
            </a:extLst>
          </p:cNvPr>
          <p:cNvSpPr/>
          <p:nvPr/>
        </p:nvSpPr>
        <p:spPr>
          <a:xfrm>
            <a:off x="3835400" y="6604000"/>
            <a:ext cx="4953000" cy="889000"/>
          </a:xfrm>
          <a:prstGeom prst="roundRect">
            <a:avLst>
              <a:gd name="adj" fmla="val 8000"/>
            </a:avLst>
          </a:prstGeom>
          <a:solidFill>
            <a:srgbClr val="FAF7FF"/>
          </a:solidFill>
          <a:ln w="1524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5E41AF"/>
                </a:solidFill>
                <a:latin typeface="Arial" panose="020B0604020202020204" pitchFamily="34" charset="0"/>
              </a:rPr>
              <a:t>Cross-fusion module
RNA-to-ligand attention
Ligand-to-RNA attention</a:t>
            </a:r>
            <a:endParaRPr lang="zh-CN" altLang="en-US" sz="13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21EF47AF-919C-6C05-396F-2400F85768DD}"/>
              </a:ext>
            </a:extLst>
          </p:cNvPr>
          <p:cNvCxnSpPr/>
          <p:nvPr/>
        </p:nvCxnSpPr>
        <p:spPr>
          <a:xfrm>
            <a:off x="4953000" y="7493000"/>
            <a:ext cx="0" cy="444500"/>
          </a:xfrm>
          <a:prstGeom prst="straightConnector1">
            <a:avLst/>
          </a:prstGeom>
          <a:ln w="13970">
            <a:solidFill>
              <a:srgbClr val="1C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4305520F-8B2A-A798-068E-BCFD60E79058}"/>
              </a:ext>
            </a:extLst>
          </p:cNvPr>
          <p:cNvCxnSpPr/>
          <p:nvPr/>
        </p:nvCxnSpPr>
        <p:spPr>
          <a:xfrm>
            <a:off x="7670800" y="7493000"/>
            <a:ext cx="0" cy="444500"/>
          </a:xfrm>
          <a:prstGeom prst="straightConnector1">
            <a:avLst/>
          </a:prstGeom>
          <a:ln w="13970">
            <a:solidFill>
              <a:srgbClr val="D4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5FC9CBB-F365-0497-6A52-09B9BD54A4DC}"/>
              </a:ext>
            </a:extLst>
          </p:cNvPr>
          <p:cNvSpPr txBox="1"/>
          <p:nvPr/>
        </p:nvSpPr>
        <p:spPr>
          <a:xfrm>
            <a:off x="4089400" y="7937500"/>
            <a:ext cx="17145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pt-BR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Nucleotide embeddings:
r_1, r_2, ..., r_p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3E58111-8156-69EA-F558-5FC518D3C74F}"/>
              </a:ext>
            </a:extLst>
          </p:cNvPr>
          <p:cNvSpPr txBox="1"/>
          <p:nvPr/>
        </p:nvSpPr>
        <p:spPr>
          <a:xfrm>
            <a:off x="6921500" y="7937500"/>
            <a:ext cx="17145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D42D2D"/>
                </a:solidFill>
                <a:latin typeface="Arial" panose="020B0604020202020204" pitchFamily="34" charset="0"/>
              </a:rPr>
              <a:t>Atom embeddings:
m_1, m_2, ..., m_q</a:t>
            </a:r>
            <a:endParaRPr lang="zh-CN" altLang="en-US" sz="100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CBAF1E6-C07E-D84B-7947-539B21F00285}"/>
              </a:ext>
            </a:extLst>
          </p:cNvPr>
          <p:cNvSpPr/>
          <p:nvPr/>
        </p:nvSpPr>
        <p:spPr>
          <a:xfrm>
            <a:off x="42672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A30B18F-FCDA-2474-7857-BEF220E8D515}"/>
              </a:ext>
            </a:extLst>
          </p:cNvPr>
          <p:cNvSpPr/>
          <p:nvPr/>
        </p:nvSpPr>
        <p:spPr>
          <a:xfrm>
            <a:off x="44577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E999857-E973-DC15-9593-4194F0B2BA07}"/>
              </a:ext>
            </a:extLst>
          </p:cNvPr>
          <p:cNvSpPr/>
          <p:nvPr/>
        </p:nvSpPr>
        <p:spPr>
          <a:xfrm>
            <a:off x="46482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8D429E6-40B1-17A5-282E-86B4966D1E01}"/>
              </a:ext>
            </a:extLst>
          </p:cNvPr>
          <p:cNvSpPr/>
          <p:nvPr/>
        </p:nvSpPr>
        <p:spPr>
          <a:xfrm>
            <a:off x="4838700" y="86106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8432707-9D94-190F-98B9-B8E46D021736}"/>
              </a:ext>
            </a:extLst>
          </p:cNvPr>
          <p:cNvSpPr/>
          <p:nvPr/>
        </p:nvSpPr>
        <p:spPr>
          <a:xfrm>
            <a:off x="70739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E83B0A28-4CE5-C5EC-B6B3-D1A04C2069C8}"/>
              </a:ext>
            </a:extLst>
          </p:cNvPr>
          <p:cNvSpPr/>
          <p:nvPr/>
        </p:nvSpPr>
        <p:spPr>
          <a:xfrm>
            <a:off x="72644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EFF3F51-609F-6EAF-C91D-4D2619AADE22}"/>
              </a:ext>
            </a:extLst>
          </p:cNvPr>
          <p:cNvSpPr/>
          <p:nvPr/>
        </p:nvSpPr>
        <p:spPr>
          <a:xfrm>
            <a:off x="74549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9145BF45-BCE0-65EC-85F6-E58491BDA002}"/>
              </a:ext>
            </a:extLst>
          </p:cNvPr>
          <p:cNvSpPr/>
          <p:nvPr/>
        </p:nvSpPr>
        <p:spPr>
          <a:xfrm>
            <a:off x="7645400" y="8610600"/>
            <a:ext cx="152400" cy="1524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F334525C-F466-0080-819E-3CFED33ECC93}"/>
              </a:ext>
            </a:extLst>
          </p:cNvPr>
          <p:cNvCxnSpPr/>
          <p:nvPr/>
        </p:nvCxnSpPr>
        <p:spPr>
          <a:xfrm>
            <a:off x="4953000" y="8851900"/>
            <a:ext cx="0" cy="482600"/>
          </a:xfrm>
          <a:prstGeom prst="straightConnector1">
            <a:avLst/>
          </a:prstGeom>
          <a:ln w="12700">
            <a:solidFill>
              <a:srgbClr val="1C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69006066-FCC9-B798-0CC0-DC6279AFFD6E}"/>
              </a:ext>
            </a:extLst>
          </p:cNvPr>
          <p:cNvCxnSpPr/>
          <p:nvPr/>
        </p:nvCxnSpPr>
        <p:spPr>
          <a:xfrm>
            <a:off x="7670800" y="8851900"/>
            <a:ext cx="0" cy="482600"/>
          </a:xfrm>
          <a:prstGeom prst="straightConnector1">
            <a:avLst/>
          </a:prstGeom>
          <a:ln w="12700">
            <a:solidFill>
              <a:srgbClr val="D4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54FCC644-8B57-ED72-BBD2-DBD4A3914ACE}"/>
              </a:ext>
            </a:extLst>
          </p:cNvPr>
          <p:cNvSpPr/>
          <p:nvPr/>
        </p:nvSpPr>
        <p:spPr>
          <a:xfrm>
            <a:off x="3886200" y="9334500"/>
            <a:ext cx="48260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E6E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>
                <a:solidFill>
                  <a:srgbClr val="6E6E6E"/>
                </a:solidFill>
                <a:latin typeface="Arial" panose="020B0604020202020204" pitchFamily="34" charset="0"/>
              </a:rPr>
              <a:t>Pooled view vectors for SCA and affinity prediction</a:t>
            </a:r>
            <a:endParaRPr lang="zh-CN" altLang="en-US" sz="9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5F61FA21-71E4-A5BE-AD3D-090B5CDF3F10}"/>
              </a:ext>
            </a:extLst>
          </p:cNvPr>
          <p:cNvSpPr/>
          <p:nvPr/>
        </p:nvSpPr>
        <p:spPr>
          <a:xfrm>
            <a:off x="4114800" y="9842500"/>
            <a:ext cx="660400" cy="342900"/>
          </a:xfrm>
          <a:prstGeom prst="rect">
            <a:avLst/>
          </a:prstGeom>
          <a:solidFill>
            <a:srgbClr val="F8FB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h_RS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392EEDD-190C-3045-2943-9F0D04C9F04F}"/>
              </a:ext>
            </a:extLst>
          </p:cNvPr>
          <p:cNvSpPr/>
          <p:nvPr/>
        </p:nvSpPr>
        <p:spPr>
          <a:xfrm>
            <a:off x="5207000" y="9842500"/>
            <a:ext cx="660400" cy="342900"/>
          </a:xfrm>
          <a:prstGeom prst="rect">
            <a:avLst/>
          </a:prstGeom>
          <a:solidFill>
            <a:srgbClr val="F8FFFF"/>
          </a:solidFill>
          <a:ln w="12700"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291A0"/>
                </a:solidFill>
                <a:latin typeface="Arial" panose="020B0604020202020204" pitchFamily="34" charset="0"/>
              </a:rPr>
              <a:t>h_RG</a:t>
            </a:r>
            <a:endParaRPr lang="zh-CN" altLang="en-US" sz="1000" b="1">
              <a:solidFill>
                <a:srgbClr val="1291A0"/>
              </a:solidFill>
              <a:latin typeface="Arial" panose="020B0604020202020204" pitchFamily="34" charset="0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828CE475-CA2A-A692-E3D8-77895B841659}"/>
              </a:ext>
            </a:extLst>
          </p:cNvPr>
          <p:cNvSpPr/>
          <p:nvPr/>
        </p:nvSpPr>
        <p:spPr>
          <a:xfrm>
            <a:off x="6604000" y="9842500"/>
            <a:ext cx="660400" cy="342900"/>
          </a:xfrm>
          <a:prstGeom prst="rect">
            <a:avLst/>
          </a:prstGeom>
          <a:solidFill>
            <a:srgbClr val="FFF9F3"/>
          </a:solidFill>
          <a:ln w="12700"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F26012"/>
                </a:solidFill>
                <a:latin typeface="Arial" panose="020B0604020202020204" pitchFamily="34" charset="0"/>
              </a:rPr>
              <a:t>h_MS</a:t>
            </a:r>
            <a:endParaRPr lang="zh-CN" altLang="en-US" sz="1000" b="1">
              <a:solidFill>
                <a:srgbClr val="F26012"/>
              </a:solidFill>
              <a:latin typeface="Arial" panose="020B0604020202020204" pitchFamily="34" charset="0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01C51FA-E4E1-AE4F-C5AC-54321D376274}"/>
              </a:ext>
            </a:extLst>
          </p:cNvPr>
          <p:cNvSpPr/>
          <p:nvPr/>
        </p:nvSpPr>
        <p:spPr>
          <a:xfrm>
            <a:off x="7874000" y="9842500"/>
            <a:ext cx="660400" cy="342900"/>
          </a:xfrm>
          <a:prstGeom prst="rect">
            <a:avLst/>
          </a:prstGeom>
          <a:solidFill>
            <a:srgbClr val="FFF6F6"/>
          </a:solidFill>
          <a:ln w="12700"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D42D2D"/>
                </a:solidFill>
                <a:latin typeface="Arial" panose="020B0604020202020204" pitchFamily="34" charset="0"/>
              </a:rPr>
              <a:t>h_MG</a:t>
            </a:r>
            <a:endParaRPr lang="zh-CN" altLang="en-US" sz="100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DF5B47AF-1772-0738-3D9F-525C8637078F}"/>
              </a:ext>
            </a:extLst>
          </p:cNvPr>
          <p:cNvSpPr/>
          <p:nvPr/>
        </p:nvSpPr>
        <p:spPr>
          <a:xfrm>
            <a:off x="10083800" y="1320800"/>
            <a:ext cx="2667000" cy="5334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524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1E822D"/>
                </a:solidFill>
                <a:latin typeface="Arial" panose="020B0604020202020204" pitchFamily="34" charset="0"/>
              </a:rPr>
              <a:t>Stage 1: Contact pretraining</a:t>
            </a:r>
            <a:endParaRPr lang="zh-CN" altLang="en-US" sz="13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026B185C-76A5-437B-9DF3-6EDC1982F429}"/>
              </a:ext>
            </a:extLst>
          </p:cNvPr>
          <p:cNvSpPr txBox="1"/>
          <p:nvPr/>
        </p:nvSpPr>
        <p:spPr>
          <a:xfrm>
            <a:off x="10350500" y="1993900"/>
            <a:ext cx="2159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E822D"/>
                </a:solidFill>
                <a:latin typeface="Arial" panose="020B0604020202020204" pitchFamily="34" charset="0"/>
              </a:rPr>
              <a:t>PDB complexes only
PDB contact labels available</a:t>
            </a:r>
            <a:endParaRPr lang="zh-CN" altLang="en-US" sz="11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AF96258C-5AEB-0511-330D-4109F1C46209}"/>
              </a:ext>
            </a:extLst>
          </p:cNvPr>
          <p:cNvSpPr txBox="1"/>
          <p:nvPr/>
        </p:nvSpPr>
        <p:spPr>
          <a:xfrm>
            <a:off x="9702800" y="2730500"/>
            <a:ext cx="11684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Nucleotide
embeddings r_i
(i = 1,...,p)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2E2BDEC1-36BA-F328-5D19-DD78162A1146}"/>
              </a:ext>
            </a:extLst>
          </p:cNvPr>
          <p:cNvSpPr txBox="1"/>
          <p:nvPr/>
        </p:nvSpPr>
        <p:spPr>
          <a:xfrm>
            <a:off x="12077700" y="2730500"/>
            <a:ext cx="14224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nl-NL" altLang="zh-CN" sz="1000" b="1">
                <a:solidFill>
                  <a:srgbClr val="D42D2D"/>
                </a:solidFill>
                <a:latin typeface="Arial" panose="020B0604020202020204" pitchFamily="34" charset="0"/>
              </a:rPr>
              <a:t>Atom embeddings m_j
(j = 1,...,q)</a:t>
            </a:r>
            <a:endParaRPr lang="zh-CN" altLang="en-US" sz="1000" b="1">
              <a:solidFill>
                <a:srgbClr val="D42D2D"/>
              </a:solidFill>
              <a:latin typeface="Arial" panose="020B0604020202020204" pitchFamily="34" charset="0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79623E5F-2498-645A-A44C-1D99A091B5EC}"/>
              </a:ext>
            </a:extLst>
          </p:cNvPr>
          <p:cNvSpPr/>
          <p:nvPr/>
        </p:nvSpPr>
        <p:spPr>
          <a:xfrm>
            <a:off x="96012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0B888516-26B5-3259-804F-A24E147BA68D}"/>
              </a:ext>
            </a:extLst>
          </p:cNvPr>
          <p:cNvSpPr/>
          <p:nvPr/>
        </p:nvSpPr>
        <p:spPr>
          <a:xfrm>
            <a:off x="98044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E9F4275F-9BE0-D9B3-A8E2-3B041E091B86}"/>
              </a:ext>
            </a:extLst>
          </p:cNvPr>
          <p:cNvSpPr/>
          <p:nvPr/>
        </p:nvSpPr>
        <p:spPr>
          <a:xfrm>
            <a:off x="100076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5B597B2E-A85E-09C3-4916-7AAE9BCBFCFA}"/>
              </a:ext>
            </a:extLst>
          </p:cNvPr>
          <p:cNvSpPr/>
          <p:nvPr/>
        </p:nvSpPr>
        <p:spPr>
          <a:xfrm>
            <a:off x="10210800" y="3505200"/>
            <a:ext cx="165100" cy="1651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A18573B2-44AF-821D-B8BB-99304D9DEF9F}"/>
              </a:ext>
            </a:extLst>
          </p:cNvPr>
          <p:cNvSpPr/>
          <p:nvPr/>
        </p:nvSpPr>
        <p:spPr>
          <a:xfrm>
            <a:off x="122555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CD7E80B8-B055-2585-EF0E-7C8273040940}"/>
              </a:ext>
            </a:extLst>
          </p:cNvPr>
          <p:cNvSpPr/>
          <p:nvPr/>
        </p:nvSpPr>
        <p:spPr>
          <a:xfrm>
            <a:off x="124587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091CF52E-1187-8FBB-2565-111E3971A86D}"/>
              </a:ext>
            </a:extLst>
          </p:cNvPr>
          <p:cNvSpPr/>
          <p:nvPr/>
        </p:nvSpPr>
        <p:spPr>
          <a:xfrm>
            <a:off x="126619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3791334A-BC20-BE2F-673C-476BEAC35A28}"/>
              </a:ext>
            </a:extLst>
          </p:cNvPr>
          <p:cNvSpPr/>
          <p:nvPr/>
        </p:nvSpPr>
        <p:spPr>
          <a:xfrm>
            <a:off x="12865100" y="3505200"/>
            <a:ext cx="165100" cy="1651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D9DC097C-9037-59E7-BA1E-9DCFAB31A32E}"/>
              </a:ext>
            </a:extLst>
          </p:cNvPr>
          <p:cNvCxnSpPr/>
          <p:nvPr/>
        </p:nvCxnSpPr>
        <p:spPr>
          <a:xfrm>
            <a:off x="10350500" y="3733800"/>
            <a:ext cx="520700" cy="520700"/>
          </a:xfrm>
          <a:prstGeom prst="straightConnector1">
            <a:avLst/>
          </a:prstGeom>
          <a:ln w="15240">
            <a:solidFill>
              <a:srgbClr val="1C52B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FCB25213-9226-991B-C6F8-209499A06979}"/>
              </a:ext>
            </a:extLst>
          </p:cNvPr>
          <p:cNvCxnSpPr/>
          <p:nvPr/>
        </p:nvCxnSpPr>
        <p:spPr>
          <a:xfrm flipH="1">
            <a:off x="12255500" y="3733800"/>
            <a:ext cx="508000" cy="520700"/>
          </a:xfrm>
          <a:prstGeom prst="straightConnector1">
            <a:avLst/>
          </a:prstGeom>
          <a:ln w="15240">
            <a:solidFill>
              <a:srgbClr val="D42D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B088813A-70DD-1B3B-AAC7-E507943980D2}"/>
              </a:ext>
            </a:extLst>
          </p:cNvPr>
          <p:cNvSpPr/>
          <p:nvPr/>
        </p:nvSpPr>
        <p:spPr>
          <a:xfrm>
            <a:off x="10096500" y="4254500"/>
            <a:ext cx="2794000" cy="1841500"/>
          </a:xfrm>
          <a:prstGeom prst="roundRect">
            <a:avLst>
              <a:gd name="adj" fmla="val 8000"/>
            </a:avLst>
          </a:prstGeom>
          <a:solidFill>
            <a:srgbClr val="F8FFF8"/>
          </a:solidFill>
          <a:ln w="1651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400" b="1">
                <a:solidFill>
                  <a:srgbClr val="1E822D"/>
                </a:solidFill>
                <a:latin typeface="Arial" panose="020B0604020202020204" pitchFamily="34" charset="0"/>
              </a:rPr>
              <a:t>Contact prediction head
[r_i, m_j, r_i * m_j]
Pairwise MLP
score_ij</a:t>
            </a:r>
            <a:endParaRPr lang="zh-CN" altLang="en-US" sz="14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13D3C6AD-39DD-5C50-29B9-7B0F67A98AC3}"/>
              </a:ext>
            </a:extLst>
          </p:cNvPr>
          <p:cNvCxnSpPr/>
          <p:nvPr/>
        </p:nvCxnSpPr>
        <p:spPr>
          <a:xfrm>
            <a:off x="11493500" y="6096000"/>
            <a:ext cx="0" cy="5969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6C279B9A-E4C2-2687-6555-EECDC7CD61ED}"/>
              </a:ext>
            </a:extLst>
          </p:cNvPr>
          <p:cNvCxnSpPr/>
          <p:nvPr/>
        </p:nvCxnSpPr>
        <p:spPr>
          <a:xfrm>
            <a:off x="12268200" y="6096000"/>
            <a:ext cx="0" cy="59690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1067479C-988D-CC1B-7224-870F09C96231}"/>
              </a:ext>
            </a:extLst>
          </p:cNvPr>
          <p:cNvSpPr txBox="1"/>
          <p:nvPr/>
        </p:nvSpPr>
        <p:spPr>
          <a:xfrm>
            <a:off x="9588500" y="6705600"/>
            <a:ext cx="15875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Predicted contact map
P in [0,1]^{p x q}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7B9EB8CE-560F-F7E7-028F-8D2D1DAC142F}"/>
              </a:ext>
            </a:extLst>
          </p:cNvPr>
          <p:cNvSpPr txBox="1"/>
          <p:nvPr/>
        </p:nvSpPr>
        <p:spPr>
          <a:xfrm>
            <a:off x="12065000" y="6705600"/>
            <a:ext cx="15240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</a:rPr>
              <a:t>PDB-derived
contact map C
C in {0,1}^{p x q}</a:t>
            </a:r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B2C7FF-28AB-01F2-F61A-151FAEB10D0F}"/>
              </a:ext>
            </a:extLst>
          </p:cNvPr>
          <p:cNvSpPr/>
          <p:nvPr/>
        </p:nvSpPr>
        <p:spPr>
          <a:xfrm>
            <a:off x="99060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060ECFD6-76B8-7993-B27F-5BFF85C6B49C}"/>
              </a:ext>
            </a:extLst>
          </p:cNvPr>
          <p:cNvSpPr/>
          <p:nvPr/>
        </p:nvSpPr>
        <p:spPr>
          <a:xfrm>
            <a:off x="100457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57EF371A-D483-9729-62B4-92F65954E65F}"/>
              </a:ext>
            </a:extLst>
          </p:cNvPr>
          <p:cNvSpPr/>
          <p:nvPr/>
        </p:nvSpPr>
        <p:spPr>
          <a:xfrm>
            <a:off x="101854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E9D1F316-4762-91A3-107D-CE483FF76866}"/>
              </a:ext>
            </a:extLst>
          </p:cNvPr>
          <p:cNvSpPr/>
          <p:nvPr/>
        </p:nvSpPr>
        <p:spPr>
          <a:xfrm>
            <a:off x="10325100" y="75438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BF853A34-2334-ECE1-81C8-AFBE19DC3637}"/>
              </a:ext>
            </a:extLst>
          </p:cNvPr>
          <p:cNvSpPr/>
          <p:nvPr/>
        </p:nvSpPr>
        <p:spPr>
          <a:xfrm>
            <a:off x="104648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0C65A2D2-39D6-5CC2-6DAD-2A3A80E71309}"/>
              </a:ext>
            </a:extLst>
          </p:cNvPr>
          <p:cNvSpPr/>
          <p:nvPr/>
        </p:nvSpPr>
        <p:spPr>
          <a:xfrm>
            <a:off x="106045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C74E36DD-D6B7-7840-0E35-D879A3E99C53}"/>
              </a:ext>
            </a:extLst>
          </p:cNvPr>
          <p:cNvSpPr/>
          <p:nvPr/>
        </p:nvSpPr>
        <p:spPr>
          <a:xfrm>
            <a:off x="107442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581F0CC-E637-4D7C-7D3A-215A259C4B29}"/>
              </a:ext>
            </a:extLst>
          </p:cNvPr>
          <p:cNvSpPr/>
          <p:nvPr/>
        </p:nvSpPr>
        <p:spPr>
          <a:xfrm>
            <a:off x="99060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533BE0F2-BEC4-F295-2A81-77EA3C0181A9}"/>
              </a:ext>
            </a:extLst>
          </p:cNvPr>
          <p:cNvSpPr/>
          <p:nvPr/>
        </p:nvSpPr>
        <p:spPr>
          <a:xfrm>
            <a:off x="100457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39B85699-1842-CED2-D381-9E2ED104166E}"/>
              </a:ext>
            </a:extLst>
          </p:cNvPr>
          <p:cNvSpPr/>
          <p:nvPr/>
        </p:nvSpPr>
        <p:spPr>
          <a:xfrm>
            <a:off x="101854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E0E99227-948F-6815-D4BE-A219077DB59C}"/>
              </a:ext>
            </a:extLst>
          </p:cNvPr>
          <p:cNvSpPr/>
          <p:nvPr/>
        </p:nvSpPr>
        <p:spPr>
          <a:xfrm>
            <a:off x="10325100" y="76835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E563DF0-67AD-D214-F2A4-33200A745A70}"/>
              </a:ext>
            </a:extLst>
          </p:cNvPr>
          <p:cNvSpPr/>
          <p:nvPr/>
        </p:nvSpPr>
        <p:spPr>
          <a:xfrm>
            <a:off x="104648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F4DD9E90-A9AE-CCAC-16FB-AA90911717D3}"/>
              </a:ext>
            </a:extLst>
          </p:cNvPr>
          <p:cNvSpPr/>
          <p:nvPr/>
        </p:nvSpPr>
        <p:spPr>
          <a:xfrm>
            <a:off x="106045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E2DE771D-27A3-3AF8-056B-5235057F8AB5}"/>
              </a:ext>
            </a:extLst>
          </p:cNvPr>
          <p:cNvSpPr/>
          <p:nvPr/>
        </p:nvSpPr>
        <p:spPr>
          <a:xfrm>
            <a:off x="107442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ABAF9099-A72A-CC90-2648-72BDAE278DA2}"/>
              </a:ext>
            </a:extLst>
          </p:cNvPr>
          <p:cNvSpPr/>
          <p:nvPr/>
        </p:nvSpPr>
        <p:spPr>
          <a:xfrm>
            <a:off x="99060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6CCFB52-8B0F-8334-100B-C0E92FDA2EC2}"/>
              </a:ext>
            </a:extLst>
          </p:cNvPr>
          <p:cNvSpPr/>
          <p:nvPr/>
        </p:nvSpPr>
        <p:spPr>
          <a:xfrm>
            <a:off x="100457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F77733B3-482A-B8B8-2A84-FE564163B719}"/>
              </a:ext>
            </a:extLst>
          </p:cNvPr>
          <p:cNvSpPr/>
          <p:nvPr/>
        </p:nvSpPr>
        <p:spPr>
          <a:xfrm>
            <a:off x="101854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92E6F333-81FE-5BD5-C478-C4FDE7AD26E1}"/>
              </a:ext>
            </a:extLst>
          </p:cNvPr>
          <p:cNvSpPr/>
          <p:nvPr/>
        </p:nvSpPr>
        <p:spPr>
          <a:xfrm>
            <a:off x="10325100" y="78232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057C61A8-A6BE-6BA2-E354-5AAF7E7A9E00}"/>
              </a:ext>
            </a:extLst>
          </p:cNvPr>
          <p:cNvSpPr/>
          <p:nvPr/>
        </p:nvSpPr>
        <p:spPr>
          <a:xfrm>
            <a:off x="104648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77A5A91-B396-C063-C2E6-2755CEC7958E}"/>
              </a:ext>
            </a:extLst>
          </p:cNvPr>
          <p:cNvSpPr/>
          <p:nvPr/>
        </p:nvSpPr>
        <p:spPr>
          <a:xfrm>
            <a:off x="106045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896912B-22FB-3315-FC8F-7F08B33811D8}"/>
              </a:ext>
            </a:extLst>
          </p:cNvPr>
          <p:cNvSpPr/>
          <p:nvPr/>
        </p:nvSpPr>
        <p:spPr>
          <a:xfrm>
            <a:off x="107442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A204550A-AA04-435A-1705-917747862035}"/>
              </a:ext>
            </a:extLst>
          </p:cNvPr>
          <p:cNvSpPr/>
          <p:nvPr/>
        </p:nvSpPr>
        <p:spPr>
          <a:xfrm>
            <a:off x="99060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70542962-F2EB-8593-6D30-2DC0700959EA}"/>
              </a:ext>
            </a:extLst>
          </p:cNvPr>
          <p:cNvSpPr/>
          <p:nvPr/>
        </p:nvSpPr>
        <p:spPr>
          <a:xfrm>
            <a:off x="100457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8DEEE6A1-C27F-B9B9-BAA3-E0E52A3628F8}"/>
              </a:ext>
            </a:extLst>
          </p:cNvPr>
          <p:cNvSpPr/>
          <p:nvPr/>
        </p:nvSpPr>
        <p:spPr>
          <a:xfrm>
            <a:off x="101854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F0DA45C0-38C9-0070-197F-A26D2AF66EBA}"/>
              </a:ext>
            </a:extLst>
          </p:cNvPr>
          <p:cNvSpPr/>
          <p:nvPr/>
        </p:nvSpPr>
        <p:spPr>
          <a:xfrm>
            <a:off x="10325100" y="79629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C2CA4135-4AB7-825F-6791-D4EE48BD1ACF}"/>
              </a:ext>
            </a:extLst>
          </p:cNvPr>
          <p:cNvSpPr/>
          <p:nvPr/>
        </p:nvSpPr>
        <p:spPr>
          <a:xfrm>
            <a:off x="104648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F9C65B80-5150-EE25-67DE-19D61DDF14C9}"/>
              </a:ext>
            </a:extLst>
          </p:cNvPr>
          <p:cNvSpPr/>
          <p:nvPr/>
        </p:nvSpPr>
        <p:spPr>
          <a:xfrm>
            <a:off x="106045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ED9A930-045E-90AD-B31D-BD71520ABA16}"/>
              </a:ext>
            </a:extLst>
          </p:cNvPr>
          <p:cNvSpPr/>
          <p:nvPr/>
        </p:nvSpPr>
        <p:spPr>
          <a:xfrm>
            <a:off x="107442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3C1372A8-2582-47D9-6166-48994F1D0B64}"/>
              </a:ext>
            </a:extLst>
          </p:cNvPr>
          <p:cNvSpPr/>
          <p:nvPr/>
        </p:nvSpPr>
        <p:spPr>
          <a:xfrm>
            <a:off x="99060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295373FE-E7E5-9DA3-38B1-2BE95A68174D}"/>
              </a:ext>
            </a:extLst>
          </p:cNvPr>
          <p:cNvSpPr/>
          <p:nvPr/>
        </p:nvSpPr>
        <p:spPr>
          <a:xfrm>
            <a:off x="100457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FB00226F-ADDE-9904-0D5F-1C59CDE224BA}"/>
              </a:ext>
            </a:extLst>
          </p:cNvPr>
          <p:cNvSpPr/>
          <p:nvPr/>
        </p:nvSpPr>
        <p:spPr>
          <a:xfrm>
            <a:off x="101854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C3DD698B-7E1F-8B98-9CDA-B9420B6C4A57}"/>
              </a:ext>
            </a:extLst>
          </p:cNvPr>
          <p:cNvSpPr/>
          <p:nvPr/>
        </p:nvSpPr>
        <p:spPr>
          <a:xfrm>
            <a:off x="10325100" y="81026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4B03C3AE-4ED3-5C75-C933-0473D5624C83}"/>
              </a:ext>
            </a:extLst>
          </p:cNvPr>
          <p:cNvSpPr/>
          <p:nvPr/>
        </p:nvSpPr>
        <p:spPr>
          <a:xfrm>
            <a:off x="104648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50A25079-F47D-4672-31F4-EF94694C685F}"/>
              </a:ext>
            </a:extLst>
          </p:cNvPr>
          <p:cNvSpPr/>
          <p:nvPr/>
        </p:nvSpPr>
        <p:spPr>
          <a:xfrm>
            <a:off x="106045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B0CDF656-2232-DEAB-7A96-28A3E3A13271}"/>
              </a:ext>
            </a:extLst>
          </p:cNvPr>
          <p:cNvSpPr/>
          <p:nvPr/>
        </p:nvSpPr>
        <p:spPr>
          <a:xfrm>
            <a:off x="107442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824FDD95-2ECA-D76E-637C-5F1EE8F89F34}"/>
              </a:ext>
            </a:extLst>
          </p:cNvPr>
          <p:cNvSpPr/>
          <p:nvPr/>
        </p:nvSpPr>
        <p:spPr>
          <a:xfrm>
            <a:off x="99060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9DF5B36C-36F1-2BC3-C22B-82950EA2DAAF}"/>
              </a:ext>
            </a:extLst>
          </p:cNvPr>
          <p:cNvSpPr/>
          <p:nvPr/>
        </p:nvSpPr>
        <p:spPr>
          <a:xfrm>
            <a:off x="100457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8A6F1E75-AB2B-EE2E-114E-5B4F752DC131}"/>
              </a:ext>
            </a:extLst>
          </p:cNvPr>
          <p:cNvSpPr/>
          <p:nvPr/>
        </p:nvSpPr>
        <p:spPr>
          <a:xfrm>
            <a:off x="101854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764D0276-BB83-FD2D-9094-50A5A2F2DB76}"/>
              </a:ext>
            </a:extLst>
          </p:cNvPr>
          <p:cNvSpPr/>
          <p:nvPr/>
        </p:nvSpPr>
        <p:spPr>
          <a:xfrm>
            <a:off x="103251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C2B19844-B1A0-8AF8-6365-8EB4A4637B52}"/>
              </a:ext>
            </a:extLst>
          </p:cNvPr>
          <p:cNvSpPr/>
          <p:nvPr/>
        </p:nvSpPr>
        <p:spPr>
          <a:xfrm>
            <a:off x="104648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0E3ED6E8-F5BF-D8F8-A213-109625296F85}"/>
              </a:ext>
            </a:extLst>
          </p:cNvPr>
          <p:cNvSpPr/>
          <p:nvPr/>
        </p:nvSpPr>
        <p:spPr>
          <a:xfrm>
            <a:off x="106045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AAA81101-E903-EDFF-F60F-506598A2102E}"/>
              </a:ext>
            </a:extLst>
          </p:cNvPr>
          <p:cNvSpPr/>
          <p:nvPr/>
        </p:nvSpPr>
        <p:spPr>
          <a:xfrm>
            <a:off x="107442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61934D5C-B30A-8B30-1A31-C678FA7A45EE}"/>
              </a:ext>
            </a:extLst>
          </p:cNvPr>
          <p:cNvSpPr/>
          <p:nvPr/>
        </p:nvSpPr>
        <p:spPr>
          <a:xfrm>
            <a:off x="9740900" y="75692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F9D59DF1-73A9-EAC7-D42E-1B9EE2309095}"/>
              </a:ext>
            </a:extLst>
          </p:cNvPr>
          <p:cNvSpPr/>
          <p:nvPr/>
        </p:nvSpPr>
        <p:spPr>
          <a:xfrm>
            <a:off x="9740900" y="77089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8A61D212-6A76-541F-51DB-AD7BD06D4DF5}"/>
              </a:ext>
            </a:extLst>
          </p:cNvPr>
          <p:cNvSpPr/>
          <p:nvPr/>
        </p:nvSpPr>
        <p:spPr>
          <a:xfrm>
            <a:off x="9740900" y="78486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D1EDC977-B475-40F3-C2B3-AA5DD4F9663A}"/>
              </a:ext>
            </a:extLst>
          </p:cNvPr>
          <p:cNvSpPr/>
          <p:nvPr/>
        </p:nvSpPr>
        <p:spPr>
          <a:xfrm>
            <a:off x="9740900" y="7988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5AAAE7CD-58B5-D709-ADDD-17BDF699F3B8}"/>
              </a:ext>
            </a:extLst>
          </p:cNvPr>
          <p:cNvSpPr/>
          <p:nvPr/>
        </p:nvSpPr>
        <p:spPr>
          <a:xfrm>
            <a:off x="9740900" y="8128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3211F8F3-4582-5883-AAD0-E86B726F5203}"/>
              </a:ext>
            </a:extLst>
          </p:cNvPr>
          <p:cNvSpPr/>
          <p:nvPr/>
        </p:nvSpPr>
        <p:spPr>
          <a:xfrm>
            <a:off x="99568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9217C8EF-A6DD-69BF-257C-5D17A1A3DF8A}"/>
              </a:ext>
            </a:extLst>
          </p:cNvPr>
          <p:cNvSpPr/>
          <p:nvPr/>
        </p:nvSpPr>
        <p:spPr>
          <a:xfrm>
            <a:off x="101219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CEE963B5-079F-9800-DAF6-282C0EA40D9E}"/>
              </a:ext>
            </a:extLst>
          </p:cNvPr>
          <p:cNvSpPr/>
          <p:nvPr/>
        </p:nvSpPr>
        <p:spPr>
          <a:xfrm>
            <a:off x="102870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0E652C3E-FFE5-CB57-58B4-E825AA5A1EEC}"/>
              </a:ext>
            </a:extLst>
          </p:cNvPr>
          <p:cNvSpPr/>
          <p:nvPr/>
        </p:nvSpPr>
        <p:spPr>
          <a:xfrm>
            <a:off x="104521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DA93837E-5504-3681-F552-5FF31646DAAD}"/>
              </a:ext>
            </a:extLst>
          </p:cNvPr>
          <p:cNvSpPr/>
          <p:nvPr/>
        </p:nvSpPr>
        <p:spPr>
          <a:xfrm>
            <a:off x="106172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D945A57A-2AEE-7F98-0385-8782EB006590}"/>
              </a:ext>
            </a:extLst>
          </p:cNvPr>
          <p:cNvSpPr/>
          <p:nvPr/>
        </p:nvSpPr>
        <p:spPr>
          <a:xfrm>
            <a:off x="12319000" y="75438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B0D4366A-6CCE-C99F-270F-B82ED7933E96}"/>
              </a:ext>
            </a:extLst>
          </p:cNvPr>
          <p:cNvSpPr/>
          <p:nvPr/>
        </p:nvSpPr>
        <p:spPr>
          <a:xfrm>
            <a:off x="124587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81411E7B-9791-CB19-0C94-4736CD871371}"/>
              </a:ext>
            </a:extLst>
          </p:cNvPr>
          <p:cNvSpPr/>
          <p:nvPr/>
        </p:nvSpPr>
        <p:spPr>
          <a:xfrm>
            <a:off x="125984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F7A9DD3-D9E5-6ED0-160B-EEB5054AAB21}"/>
              </a:ext>
            </a:extLst>
          </p:cNvPr>
          <p:cNvSpPr/>
          <p:nvPr/>
        </p:nvSpPr>
        <p:spPr>
          <a:xfrm>
            <a:off x="127381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3348E888-2FDF-48DA-0966-D45B7690D308}"/>
              </a:ext>
            </a:extLst>
          </p:cNvPr>
          <p:cNvSpPr/>
          <p:nvPr/>
        </p:nvSpPr>
        <p:spPr>
          <a:xfrm>
            <a:off x="128778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01FB347A-AEBD-E7AB-754B-CD560121A0D3}"/>
              </a:ext>
            </a:extLst>
          </p:cNvPr>
          <p:cNvSpPr/>
          <p:nvPr/>
        </p:nvSpPr>
        <p:spPr>
          <a:xfrm>
            <a:off x="130175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E9D336F6-4FCE-00D1-981F-654609F9C3E1}"/>
              </a:ext>
            </a:extLst>
          </p:cNvPr>
          <p:cNvSpPr/>
          <p:nvPr/>
        </p:nvSpPr>
        <p:spPr>
          <a:xfrm>
            <a:off x="13157200" y="75438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D5D0C40B-D967-AF60-54EE-0A3A0B739EA8}"/>
              </a:ext>
            </a:extLst>
          </p:cNvPr>
          <p:cNvSpPr/>
          <p:nvPr/>
        </p:nvSpPr>
        <p:spPr>
          <a:xfrm>
            <a:off x="123190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EC92F1E9-02FB-C65D-1F8E-2CD8709EF745}"/>
              </a:ext>
            </a:extLst>
          </p:cNvPr>
          <p:cNvSpPr/>
          <p:nvPr/>
        </p:nvSpPr>
        <p:spPr>
          <a:xfrm>
            <a:off x="12458700" y="76835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CBEDB89E-04CD-8DF9-2705-7DC84038CD41}"/>
              </a:ext>
            </a:extLst>
          </p:cNvPr>
          <p:cNvSpPr/>
          <p:nvPr/>
        </p:nvSpPr>
        <p:spPr>
          <a:xfrm>
            <a:off x="125984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293B3C26-6CD2-D362-918C-24EBF4824EE8}"/>
              </a:ext>
            </a:extLst>
          </p:cNvPr>
          <p:cNvSpPr/>
          <p:nvPr/>
        </p:nvSpPr>
        <p:spPr>
          <a:xfrm>
            <a:off x="127381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054A71AC-416F-146D-468B-E1433DF7AA3F}"/>
              </a:ext>
            </a:extLst>
          </p:cNvPr>
          <p:cNvSpPr/>
          <p:nvPr/>
        </p:nvSpPr>
        <p:spPr>
          <a:xfrm>
            <a:off x="128778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B7DD99CF-CE90-63B5-B9DC-95A2A0F7271D}"/>
              </a:ext>
            </a:extLst>
          </p:cNvPr>
          <p:cNvSpPr/>
          <p:nvPr/>
        </p:nvSpPr>
        <p:spPr>
          <a:xfrm>
            <a:off x="130175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33550423-949C-CABB-906E-702DE260374D}"/>
              </a:ext>
            </a:extLst>
          </p:cNvPr>
          <p:cNvSpPr/>
          <p:nvPr/>
        </p:nvSpPr>
        <p:spPr>
          <a:xfrm>
            <a:off x="13157200" y="76835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AAD0B38F-0DD2-88FC-CEC0-BE57A9FC479F}"/>
              </a:ext>
            </a:extLst>
          </p:cNvPr>
          <p:cNvSpPr/>
          <p:nvPr/>
        </p:nvSpPr>
        <p:spPr>
          <a:xfrm>
            <a:off x="123190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6A445923-F880-E986-15D9-620171A2EF07}"/>
              </a:ext>
            </a:extLst>
          </p:cNvPr>
          <p:cNvSpPr/>
          <p:nvPr/>
        </p:nvSpPr>
        <p:spPr>
          <a:xfrm>
            <a:off x="124587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787F505-1109-F944-97B0-126F10DAA6C7}"/>
              </a:ext>
            </a:extLst>
          </p:cNvPr>
          <p:cNvSpPr/>
          <p:nvPr/>
        </p:nvSpPr>
        <p:spPr>
          <a:xfrm>
            <a:off x="12598400" y="78232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AA360E97-E8D7-8F6C-99A1-DE387361C832}"/>
              </a:ext>
            </a:extLst>
          </p:cNvPr>
          <p:cNvSpPr/>
          <p:nvPr/>
        </p:nvSpPr>
        <p:spPr>
          <a:xfrm>
            <a:off x="127381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929A2F9A-B5E6-B248-A880-2274CBA36F4E}"/>
              </a:ext>
            </a:extLst>
          </p:cNvPr>
          <p:cNvSpPr/>
          <p:nvPr/>
        </p:nvSpPr>
        <p:spPr>
          <a:xfrm>
            <a:off x="128778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EB690F50-E862-4A28-A9C5-BE56CCC4E199}"/>
              </a:ext>
            </a:extLst>
          </p:cNvPr>
          <p:cNvSpPr/>
          <p:nvPr/>
        </p:nvSpPr>
        <p:spPr>
          <a:xfrm>
            <a:off x="130175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7DC29C08-9D71-17F7-9948-884AC634EB69}"/>
              </a:ext>
            </a:extLst>
          </p:cNvPr>
          <p:cNvSpPr/>
          <p:nvPr/>
        </p:nvSpPr>
        <p:spPr>
          <a:xfrm>
            <a:off x="13157200" y="78232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4FBF462B-E73F-23D4-8F80-9C8A6EEBA851}"/>
              </a:ext>
            </a:extLst>
          </p:cNvPr>
          <p:cNvSpPr/>
          <p:nvPr/>
        </p:nvSpPr>
        <p:spPr>
          <a:xfrm>
            <a:off x="123190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A4B0130C-8925-9B9C-C8C0-622FE75BABBE}"/>
              </a:ext>
            </a:extLst>
          </p:cNvPr>
          <p:cNvSpPr/>
          <p:nvPr/>
        </p:nvSpPr>
        <p:spPr>
          <a:xfrm>
            <a:off x="124587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AC275A90-7B12-9F9C-B977-8B5042A4E3F1}"/>
              </a:ext>
            </a:extLst>
          </p:cNvPr>
          <p:cNvSpPr/>
          <p:nvPr/>
        </p:nvSpPr>
        <p:spPr>
          <a:xfrm>
            <a:off x="125984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EA8583A7-FAD7-D6DB-1BF2-0F8B26C48982}"/>
              </a:ext>
            </a:extLst>
          </p:cNvPr>
          <p:cNvSpPr/>
          <p:nvPr/>
        </p:nvSpPr>
        <p:spPr>
          <a:xfrm>
            <a:off x="12738100" y="79629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5FAE42DD-82A8-6372-03F2-77F2D8BFD853}"/>
              </a:ext>
            </a:extLst>
          </p:cNvPr>
          <p:cNvSpPr/>
          <p:nvPr/>
        </p:nvSpPr>
        <p:spPr>
          <a:xfrm>
            <a:off x="128778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DE9F2285-97C2-2C80-D7BE-AE1C73C7C600}"/>
              </a:ext>
            </a:extLst>
          </p:cNvPr>
          <p:cNvSpPr/>
          <p:nvPr/>
        </p:nvSpPr>
        <p:spPr>
          <a:xfrm>
            <a:off x="130175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A8BB2C3A-BD89-5857-7494-7D558C64ED5A}"/>
              </a:ext>
            </a:extLst>
          </p:cNvPr>
          <p:cNvSpPr/>
          <p:nvPr/>
        </p:nvSpPr>
        <p:spPr>
          <a:xfrm>
            <a:off x="13157200" y="79629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3271E691-0713-524E-C8F9-0D0B53197D36}"/>
              </a:ext>
            </a:extLst>
          </p:cNvPr>
          <p:cNvSpPr/>
          <p:nvPr/>
        </p:nvSpPr>
        <p:spPr>
          <a:xfrm>
            <a:off x="123190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E40AAA84-34A9-C845-228B-ECF0CAA72564}"/>
              </a:ext>
            </a:extLst>
          </p:cNvPr>
          <p:cNvSpPr/>
          <p:nvPr/>
        </p:nvSpPr>
        <p:spPr>
          <a:xfrm>
            <a:off x="124587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1238F7D4-8541-72AC-97DA-6FEB08D20E35}"/>
              </a:ext>
            </a:extLst>
          </p:cNvPr>
          <p:cNvSpPr/>
          <p:nvPr/>
        </p:nvSpPr>
        <p:spPr>
          <a:xfrm>
            <a:off x="125984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708673BD-C050-D6BB-B429-21A2CF59CE50}"/>
              </a:ext>
            </a:extLst>
          </p:cNvPr>
          <p:cNvSpPr/>
          <p:nvPr/>
        </p:nvSpPr>
        <p:spPr>
          <a:xfrm>
            <a:off x="127381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93D29557-8A54-EF74-75E1-0A242D95A7A5}"/>
              </a:ext>
            </a:extLst>
          </p:cNvPr>
          <p:cNvSpPr/>
          <p:nvPr/>
        </p:nvSpPr>
        <p:spPr>
          <a:xfrm>
            <a:off x="12877800" y="8102600"/>
            <a:ext cx="139700" cy="1397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0894CA5F-268C-5C1D-A954-31218A555ACF}"/>
              </a:ext>
            </a:extLst>
          </p:cNvPr>
          <p:cNvSpPr/>
          <p:nvPr/>
        </p:nvSpPr>
        <p:spPr>
          <a:xfrm>
            <a:off x="130175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33323B85-C4CE-55EB-CAD1-B96913C2A267}"/>
              </a:ext>
            </a:extLst>
          </p:cNvPr>
          <p:cNvSpPr/>
          <p:nvPr/>
        </p:nvSpPr>
        <p:spPr>
          <a:xfrm>
            <a:off x="13157200" y="81026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9FA50488-B89D-7D4F-B8B0-F89FA46B3C44}"/>
              </a:ext>
            </a:extLst>
          </p:cNvPr>
          <p:cNvSpPr/>
          <p:nvPr/>
        </p:nvSpPr>
        <p:spPr>
          <a:xfrm>
            <a:off x="123190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135774F4-0CCC-318B-EAF1-59C4072DD299}"/>
              </a:ext>
            </a:extLst>
          </p:cNvPr>
          <p:cNvSpPr/>
          <p:nvPr/>
        </p:nvSpPr>
        <p:spPr>
          <a:xfrm>
            <a:off x="124587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C3719379-E216-B01C-7C59-7C21401B5D1C}"/>
              </a:ext>
            </a:extLst>
          </p:cNvPr>
          <p:cNvSpPr/>
          <p:nvPr/>
        </p:nvSpPr>
        <p:spPr>
          <a:xfrm>
            <a:off x="125984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9D043793-9A28-8B83-638D-1BB2D59E7344}"/>
              </a:ext>
            </a:extLst>
          </p:cNvPr>
          <p:cNvSpPr/>
          <p:nvPr/>
        </p:nvSpPr>
        <p:spPr>
          <a:xfrm>
            <a:off x="127381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0B820006-254E-4C1C-F8BB-4249EC82DFB1}"/>
              </a:ext>
            </a:extLst>
          </p:cNvPr>
          <p:cNvSpPr/>
          <p:nvPr/>
        </p:nvSpPr>
        <p:spPr>
          <a:xfrm>
            <a:off x="128778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E806EE9B-5BB1-1313-5161-E61CFC911B18}"/>
              </a:ext>
            </a:extLst>
          </p:cNvPr>
          <p:cNvSpPr/>
          <p:nvPr/>
        </p:nvSpPr>
        <p:spPr>
          <a:xfrm>
            <a:off x="130175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49A09EEA-BDC3-81C4-D02C-F9AC27D09203}"/>
              </a:ext>
            </a:extLst>
          </p:cNvPr>
          <p:cNvSpPr/>
          <p:nvPr/>
        </p:nvSpPr>
        <p:spPr>
          <a:xfrm>
            <a:off x="13157200" y="8242300"/>
            <a:ext cx="139700" cy="1397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3DE3F5C1-35B8-4F79-17B0-F72849D0DD92}"/>
              </a:ext>
            </a:extLst>
          </p:cNvPr>
          <p:cNvSpPr/>
          <p:nvPr/>
        </p:nvSpPr>
        <p:spPr>
          <a:xfrm>
            <a:off x="12153900" y="75692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CD5E9EDB-DBC4-CF25-12D0-742915DACFB7}"/>
              </a:ext>
            </a:extLst>
          </p:cNvPr>
          <p:cNvSpPr/>
          <p:nvPr/>
        </p:nvSpPr>
        <p:spPr>
          <a:xfrm>
            <a:off x="12153900" y="77089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椭圆 265">
            <a:extLst>
              <a:ext uri="{FF2B5EF4-FFF2-40B4-BE49-F238E27FC236}">
                <a16:creationId xmlns:a16="http://schemas.microsoft.com/office/drawing/2014/main" id="{18E74246-A8FA-F5EB-4659-C245312C83B8}"/>
              </a:ext>
            </a:extLst>
          </p:cNvPr>
          <p:cNvSpPr/>
          <p:nvPr/>
        </p:nvSpPr>
        <p:spPr>
          <a:xfrm>
            <a:off x="12153900" y="78486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E7DCA4D4-239D-9ECE-C0BA-51980F326E73}"/>
              </a:ext>
            </a:extLst>
          </p:cNvPr>
          <p:cNvSpPr/>
          <p:nvPr/>
        </p:nvSpPr>
        <p:spPr>
          <a:xfrm>
            <a:off x="12153900" y="7988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椭圆 267">
            <a:extLst>
              <a:ext uri="{FF2B5EF4-FFF2-40B4-BE49-F238E27FC236}">
                <a16:creationId xmlns:a16="http://schemas.microsoft.com/office/drawing/2014/main" id="{A5130BA4-C410-5DD1-E261-8A4FE93EDD11}"/>
              </a:ext>
            </a:extLst>
          </p:cNvPr>
          <p:cNvSpPr/>
          <p:nvPr/>
        </p:nvSpPr>
        <p:spPr>
          <a:xfrm>
            <a:off x="12153900" y="8128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20F2A356-AE48-2C43-4777-36EDA25A20B2}"/>
              </a:ext>
            </a:extLst>
          </p:cNvPr>
          <p:cNvSpPr/>
          <p:nvPr/>
        </p:nvSpPr>
        <p:spPr>
          <a:xfrm>
            <a:off x="123698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5F272C11-59E9-8704-7C03-E63554EEC1AD}"/>
              </a:ext>
            </a:extLst>
          </p:cNvPr>
          <p:cNvSpPr/>
          <p:nvPr/>
        </p:nvSpPr>
        <p:spPr>
          <a:xfrm>
            <a:off x="125349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61EE2BC4-EF8C-3096-6049-BE74DAFA425A}"/>
              </a:ext>
            </a:extLst>
          </p:cNvPr>
          <p:cNvSpPr/>
          <p:nvPr/>
        </p:nvSpPr>
        <p:spPr>
          <a:xfrm>
            <a:off x="127000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椭圆 271">
            <a:extLst>
              <a:ext uri="{FF2B5EF4-FFF2-40B4-BE49-F238E27FC236}">
                <a16:creationId xmlns:a16="http://schemas.microsoft.com/office/drawing/2014/main" id="{91E5B97B-9E55-1F01-DCB6-AD5F3D93D156}"/>
              </a:ext>
            </a:extLst>
          </p:cNvPr>
          <p:cNvSpPr/>
          <p:nvPr/>
        </p:nvSpPr>
        <p:spPr>
          <a:xfrm>
            <a:off x="128651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D03DAD3B-D6F8-9AF2-CEB4-368251665D2C}"/>
              </a:ext>
            </a:extLst>
          </p:cNvPr>
          <p:cNvSpPr/>
          <p:nvPr/>
        </p:nvSpPr>
        <p:spPr>
          <a:xfrm>
            <a:off x="13030200" y="85344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568E593E-70DC-325B-4E9E-519131C4844C}"/>
              </a:ext>
            </a:extLst>
          </p:cNvPr>
          <p:cNvCxnSpPr/>
          <p:nvPr/>
        </p:nvCxnSpPr>
        <p:spPr>
          <a:xfrm>
            <a:off x="10490200" y="8509000"/>
            <a:ext cx="838200" cy="546100"/>
          </a:xfrm>
          <a:prstGeom prst="straightConnector1">
            <a:avLst/>
          </a:prstGeom>
          <a:ln w="1270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D3AF34CD-0274-8217-6404-479CAC7F1C05}"/>
              </a:ext>
            </a:extLst>
          </p:cNvPr>
          <p:cNvCxnSpPr/>
          <p:nvPr/>
        </p:nvCxnSpPr>
        <p:spPr>
          <a:xfrm flipH="1">
            <a:off x="12026900" y="8509000"/>
            <a:ext cx="876300" cy="546100"/>
          </a:xfrm>
          <a:prstGeom prst="straightConnector1">
            <a:avLst/>
          </a:prstGeom>
          <a:ln w="12700">
            <a:solidFill>
              <a:srgbClr val="1E822D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矩形: 圆角 275">
            <a:extLst>
              <a:ext uri="{FF2B5EF4-FFF2-40B4-BE49-F238E27FC236}">
                <a16:creationId xmlns:a16="http://schemas.microsoft.com/office/drawing/2014/main" id="{3A2A52D9-46B3-DAF6-060F-C10904B9B59E}"/>
              </a:ext>
            </a:extLst>
          </p:cNvPr>
          <p:cNvSpPr/>
          <p:nvPr/>
        </p:nvSpPr>
        <p:spPr>
          <a:xfrm>
            <a:off x="10858500" y="9042400"/>
            <a:ext cx="1968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5F5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200" b="1">
                <a:solidFill>
                  <a:srgbClr val="5F5F5F"/>
                </a:solidFill>
                <a:latin typeface="Arial" panose="020B0604020202020204" pitchFamily="34" charset="0"/>
              </a:rPr>
              <a:t>L_contact =
Focal Loss(P, C)
(Focal loss)</a:t>
            </a:r>
            <a:endParaRPr lang="zh-CN" altLang="en-US" sz="1200" b="1">
              <a:solidFill>
                <a:srgbClr val="5F5F5F"/>
              </a:solidFill>
              <a:latin typeface="Arial" panose="020B0604020202020204" pitchFamily="34" charset="0"/>
            </a:endParaRPr>
          </a:p>
        </p:txBody>
      </p:sp>
      <p:sp>
        <p:nvSpPr>
          <p:cNvPr id="277" name="矩形: 圆角 276">
            <a:extLst>
              <a:ext uri="{FF2B5EF4-FFF2-40B4-BE49-F238E27FC236}">
                <a16:creationId xmlns:a16="http://schemas.microsoft.com/office/drawing/2014/main" id="{950E7041-E778-260C-116F-0126A7E85D1D}"/>
              </a:ext>
            </a:extLst>
          </p:cNvPr>
          <p:cNvSpPr/>
          <p:nvPr/>
        </p:nvSpPr>
        <p:spPr>
          <a:xfrm>
            <a:off x="14706600" y="1320800"/>
            <a:ext cx="3683000" cy="533400"/>
          </a:xfrm>
          <a:prstGeom prst="roundRect">
            <a:avLst>
              <a:gd name="adj" fmla="val 8000"/>
            </a:avLst>
          </a:prstGeom>
          <a:solidFill>
            <a:srgbClr val="F7F2FF"/>
          </a:solidFill>
          <a:ln w="1524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5E41AF"/>
                </a:solidFill>
                <a:latin typeface="Arial" panose="020B0604020202020204" pitchFamily="34" charset="0"/>
              </a:rPr>
              <a:t>Stage 2: Affinity fine-tuning with SCA</a:t>
            </a:r>
            <a:endParaRPr lang="zh-CN" altLang="en-US" sz="13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EB776487-E707-B714-FA23-762A0F4C905A}"/>
              </a:ext>
            </a:extLst>
          </p:cNvPr>
          <p:cNvSpPr txBox="1"/>
          <p:nvPr/>
        </p:nvSpPr>
        <p:spPr>
          <a:xfrm>
            <a:off x="14579600" y="2120900"/>
            <a:ext cx="3937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100" b="1">
                <a:solidFill>
                  <a:srgbClr val="1C52B4"/>
                </a:solidFill>
                <a:latin typeface="Arial" panose="020B0604020202020204" pitchFamily="34" charset="0"/>
              </a:rPr>
              <a:t>1) Pooled view vectors from backbone
H = [h_RS, h_RG, h_MS, h_MG]</a:t>
            </a:r>
            <a:endParaRPr lang="zh-CN" altLang="en-US" sz="11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D806D58B-8F27-4D63-338D-7913E150456A}"/>
              </a:ext>
            </a:extLst>
          </p:cNvPr>
          <p:cNvSpPr/>
          <p:nvPr/>
        </p:nvSpPr>
        <p:spPr>
          <a:xfrm>
            <a:off x="14528800" y="2717800"/>
            <a:ext cx="4000500" cy="533400"/>
          </a:xfrm>
          <a:prstGeom prst="roundRect">
            <a:avLst>
              <a:gd name="adj" fmla="val 8000"/>
            </a:avLst>
          </a:prstGeom>
          <a:solidFill>
            <a:srgbClr val="FCFEFF"/>
          </a:solidFill>
          <a:ln w="1524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82873E5A-B13A-A653-F6FD-1FF51421A9EC}"/>
              </a:ext>
            </a:extLst>
          </p:cNvPr>
          <p:cNvSpPr/>
          <p:nvPr/>
        </p:nvSpPr>
        <p:spPr>
          <a:xfrm>
            <a:off x="147701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4AC39671-493E-0835-D098-4632A52920B7}"/>
              </a:ext>
            </a:extLst>
          </p:cNvPr>
          <p:cNvSpPr/>
          <p:nvPr/>
        </p:nvSpPr>
        <p:spPr>
          <a:xfrm>
            <a:off x="149606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D8ABDD1-59BD-3A9D-3E37-DFE8A8187E69}"/>
              </a:ext>
            </a:extLst>
          </p:cNvPr>
          <p:cNvSpPr/>
          <p:nvPr/>
        </p:nvSpPr>
        <p:spPr>
          <a:xfrm>
            <a:off x="151511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49AB506D-7313-C859-57F4-1F6179334908}"/>
              </a:ext>
            </a:extLst>
          </p:cNvPr>
          <p:cNvSpPr/>
          <p:nvPr/>
        </p:nvSpPr>
        <p:spPr>
          <a:xfrm>
            <a:off x="153416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F37692F7-D8DA-7DE9-911B-FB62F40B2376}"/>
              </a:ext>
            </a:extLst>
          </p:cNvPr>
          <p:cNvSpPr/>
          <p:nvPr/>
        </p:nvSpPr>
        <p:spPr>
          <a:xfrm>
            <a:off x="155321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7E197BB0-2EEB-70AE-1E70-0F4AF7BF0707}"/>
              </a:ext>
            </a:extLst>
          </p:cNvPr>
          <p:cNvSpPr/>
          <p:nvPr/>
        </p:nvSpPr>
        <p:spPr>
          <a:xfrm>
            <a:off x="15722600" y="2882900"/>
            <a:ext cx="152400" cy="152400"/>
          </a:xfrm>
          <a:prstGeom prst="rect">
            <a:avLst/>
          </a:prstGeom>
          <a:solidFill>
            <a:srgbClr val="1C52B4"/>
          </a:solidFill>
          <a:ln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CB9D43A7-8A9A-F405-8716-F269DADB1B4A}"/>
              </a:ext>
            </a:extLst>
          </p:cNvPr>
          <p:cNvSpPr/>
          <p:nvPr/>
        </p:nvSpPr>
        <p:spPr>
          <a:xfrm>
            <a:off x="160528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C39FD7B7-0262-69B9-E9F3-73209947A9BF}"/>
              </a:ext>
            </a:extLst>
          </p:cNvPr>
          <p:cNvSpPr/>
          <p:nvPr/>
        </p:nvSpPr>
        <p:spPr>
          <a:xfrm>
            <a:off x="162433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C0C120BA-4671-1CCC-26B4-085BE0A3244B}"/>
              </a:ext>
            </a:extLst>
          </p:cNvPr>
          <p:cNvSpPr/>
          <p:nvPr/>
        </p:nvSpPr>
        <p:spPr>
          <a:xfrm>
            <a:off x="164338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9DC032E2-C41D-2739-705B-4DFF07F31101}"/>
              </a:ext>
            </a:extLst>
          </p:cNvPr>
          <p:cNvSpPr/>
          <p:nvPr/>
        </p:nvSpPr>
        <p:spPr>
          <a:xfrm>
            <a:off x="166243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D630875E-2315-3D98-7A8B-73311B00A56A}"/>
              </a:ext>
            </a:extLst>
          </p:cNvPr>
          <p:cNvSpPr/>
          <p:nvPr/>
        </p:nvSpPr>
        <p:spPr>
          <a:xfrm>
            <a:off x="168148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11DB3FAC-88AE-B0E9-CC64-3544352E6B0D}"/>
              </a:ext>
            </a:extLst>
          </p:cNvPr>
          <p:cNvSpPr/>
          <p:nvPr/>
        </p:nvSpPr>
        <p:spPr>
          <a:xfrm>
            <a:off x="17005300" y="2882900"/>
            <a:ext cx="152400" cy="152400"/>
          </a:xfrm>
          <a:prstGeom prst="rect">
            <a:avLst/>
          </a:prstGeom>
          <a:solidFill>
            <a:srgbClr val="1291A0"/>
          </a:solidFill>
          <a:ln>
            <a:solidFill>
              <a:srgbClr val="1291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6D6919BD-8B68-87EF-8424-36E1B3A5772B}"/>
              </a:ext>
            </a:extLst>
          </p:cNvPr>
          <p:cNvSpPr/>
          <p:nvPr/>
        </p:nvSpPr>
        <p:spPr>
          <a:xfrm>
            <a:off x="173355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D3D5590-7F80-02D9-D345-E2586454CD0E}"/>
              </a:ext>
            </a:extLst>
          </p:cNvPr>
          <p:cNvSpPr/>
          <p:nvPr/>
        </p:nvSpPr>
        <p:spPr>
          <a:xfrm>
            <a:off x="175260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DABA9CB5-C64C-AA67-7486-3499D5994444}"/>
              </a:ext>
            </a:extLst>
          </p:cNvPr>
          <p:cNvSpPr/>
          <p:nvPr/>
        </p:nvSpPr>
        <p:spPr>
          <a:xfrm>
            <a:off x="177165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19EC5070-F06C-AE90-7F2C-D2B917C9C7D3}"/>
              </a:ext>
            </a:extLst>
          </p:cNvPr>
          <p:cNvSpPr/>
          <p:nvPr/>
        </p:nvSpPr>
        <p:spPr>
          <a:xfrm>
            <a:off x="179070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602B556F-0487-4874-70F9-36B8224C245D}"/>
              </a:ext>
            </a:extLst>
          </p:cNvPr>
          <p:cNvSpPr/>
          <p:nvPr/>
        </p:nvSpPr>
        <p:spPr>
          <a:xfrm>
            <a:off x="18097500" y="2882900"/>
            <a:ext cx="152400" cy="152400"/>
          </a:xfrm>
          <a:prstGeom prst="rect">
            <a:avLst/>
          </a:prstGeom>
          <a:solidFill>
            <a:srgbClr val="F26012"/>
          </a:solidFill>
          <a:ln>
            <a:solidFill>
              <a:srgbClr val="F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831D1D79-37CB-7DA1-7E32-D12E074B95AF}"/>
              </a:ext>
            </a:extLst>
          </p:cNvPr>
          <p:cNvSpPr/>
          <p:nvPr/>
        </p:nvSpPr>
        <p:spPr>
          <a:xfrm>
            <a:off x="18364200" y="2882900"/>
            <a:ext cx="139700" cy="1397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C0F2E9B8-55E6-4B65-D88C-6DFBDFF857A3}"/>
              </a:ext>
            </a:extLst>
          </p:cNvPr>
          <p:cNvSpPr/>
          <p:nvPr/>
        </p:nvSpPr>
        <p:spPr>
          <a:xfrm>
            <a:off x="18542000" y="2882900"/>
            <a:ext cx="139700" cy="1397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94BF696D-D377-D120-A039-63B8BC65345D}"/>
              </a:ext>
            </a:extLst>
          </p:cNvPr>
          <p:cNvSpPr/>
          <p:nvPr/>
        </p:nvSpPr>
        <p:spPr>
          <a:xfrm>
            <a:off x="18719800" y="2882900"/>
            <a:ext cx="139700" cy="139700"/>
          </a:xfrm>
          <a:prstGeom prst="rect">
            <a:avLst/>
          </a:prstGeom>
          <a:solidFill>
            <a:srgbClr val="D42D2D"/>
          </a:solidFill>
          <a:ln>
            <a:solidFill>
              <a:srgbClr val="D4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0A1F066F-ADBB-CCC8-6746-78F6511DEA2E}"/>
              </a:ext>
            </a:extLst>
          </p:cNvPr>
          <p:cNvCxnSpPr/>
          <p:nvPr/>
        </p:nvCxnSpPr>
        <p:spPr>
          <a:xfrm>
            <a:off x="16573500" y="3251200"/>
            <a:ext cx="0" cy="762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文本框 300">
            <a:extLst>
              <a:ext uri="{FF2B5EF4-FFF2-40B4-BE49-F238E27FC236}">
                <a16:creationId xmlns:a16="http://schemas.microsoft.com/office/drawing/2014/main" id="{7350E89C-529B-C84C-228F-01B7E87CA22F}"/>
              </a:ext>
            </a:extLst>
          </p:cNvPr>
          <p:cNvSpPr txBox="1"/>
          <p:nvPr/>
        </p:nvSpPr>
        <p:spPr>
          <a:xfrm>
            <a:off x="14579600" y="3835400"/>
            <a:ext cx="393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1100" b="1">
                <a:solidFill>
                  <a:srgbClr val="1E822D"/>
                </a:solidFill>
                <a:latin typeface="Arial" panose="020B0604020202020204" pitchFamily="34" charset="0"/>
              </a:rPr>
              <a:t>2) Contact prior inferred  (no contact labels used)</a:t>
            </a:r>
            <a:endParaRPr lang="zh-CN" altLang="en-US" sz="11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0C6B5057-A6A7-591D-1B59-DCC708565CBF}"/>
              </a:ext>
            </a:extLst>
          </p:cNvPr>
          <p:cNvSpPr txBox="1"/>
          <p:nvPr/>
        </p:nvSpPr>
        <p:spPr>
          <a:xfrm>
            <a:off x="14579600" y="4229100"/>
            <a:ext cx="1905000" cy="57964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000000"/>
                </a:solidFill>
                <a:latin typeface="Arial" panose="020B0604020202020204" pitchFamily="34" charset="0"/>
              </a:rPr>
              <a:t>Pretrained contact head
predicts P on R-SIM pairs
(no contact supervision)
P in [0,1]^{p x q}</a:t>
            </a:r>
            <a:endParaRPr lang="zh-CN" altLang="en-US" sz="9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E4A6FF5F-B4E4-9FE6-A9AC-B3DB93EC3CD5}"/>
              </a:ext>
            </a:extLst>
          </p:cNvPr>
          <p:cNvSpPr/>
          <p:nvPr/>
        </p:nvSpPr>
        <p:spPr>
          <a:xfrm>
            <a:off x="149098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E7877537-47C9-FC4B-CC9B-EFAB8808AD1E}"/>
              </a:ext>
            </a:extLst>
          </p:cNvPr>
          <p:cNvSpPr/>
          <p:nvPr/>
        </p:nvSpPr>
        <p:spPr>
          <a:xfrm>
            <a:off x="150241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BB4D0E9B-627B-BB45-81B1-AB5745BE744C}"/>
              </a:ext>
            </a:extLst>
          </p:cNvPr>
          <p:cNvSpPr/>
          <p:nvPr/>
        </p:nvSpPr>
        <p:spPr>
          <a:xfrm>
            <a:off x="151384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B28E58B1-2BDE-6455-E3CD-8623463C4DEF}"/>
              </a:ext>
            </a:extLst>
          </p:cNvPr>
          <p:cNvSpPr/>
          <p:nvPr/>
        </p:nvSpPr>
        <p:spPr>
          <a:xfrm>
            <a:off x="152527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769D7981-E092-8F6C-0B2A-1148E52B11C8}"/>
              </a:ext>
            </a:extLst>
          </p:cNvPr>
          <p:cNvSpPr/>
          <p:nvPr/>
        </p:nvSpPr>
        <p:spPr>
          <a:xfrm>
            <a:off x="15367000" y="53848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BFCA3031-D3D5-C0C1-3614-70EFC01697E7}"/>
              </a:ext>
            </a:extLst>
          </p:cNvPr>
          <p:cNvSpPr/>
          <p:nvPr/>
        </p:nvSpPr>
        <p:spPr>
          <a:xfrm>
            <a:off x="15481300" y="53848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31FD4E2F-8FBE-7B87-EBB2-AD9CFEF9AF86}"/>
              </a:ext>
            </a:extLst>
          </p:cNvPr>
          <p:cNvSpPr/>
          <p:nvPr/>
        </p:nvSpPr>
        <p:spPr>
          <a:xfrm>
            <a:off x="149098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CCC562FD-F357-917B-1CEC-59FBFF1C4D61}"/>
              </a:ext>
            </a:extLst>
          </p:cNvPr>
          <p:cNvSpPr/>
          <p:nvPr/>
        </p:nvSpPr>
        <p:spPr>
          <a:xfrm>
            <a:off x="150241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CF80DD21-2849-C93C-8B87-3F2B1947AE20}"/>
              </a:ext>
            </a:extLst>
          </p:cNvPr>
          <p:cNvSpPr/>
          <p:nvPr/>
        </p:nvSpPr>
        <p:spPr>
          <a:xfrm>
            <a:off x="151384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D59F0629-A2BD-5037-D979-FF288B2AB3F9}"/>
              </a:ext>
            </a:extLst>
          </p:cNvPr>
          <p:cNvSpPr/>
          <p:nvPr/>
        </p:nvSpPr>
        <p:spPr>
          <a:xfrm>
            <a:off x="15252700" y="54991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4549FBC5-3634-DF7C-FDBB-3ECC0A4B3A0D}"/>
              </a:ext>
            </a:extLst>
          </p:cNvPr>
          <p:cNvSpPr/>
          <p:nvPr/>
        </p:nvSpPr>
        <p:spPr>
          <a:xfrm>
            <a:off x="153670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87C7E90B-8342-1CCD-D2EE-B2E1E30E1DC7}"/>
              </a:ext>
            </a:extLst>
          </p:cNvPr>
          <p:cNvSpPr/>
          <p:nvPr/>
        </p:nvSpPr>
        <p:spPr>
          <a:xfrm>
            <a:off x="15481300" y="54991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ACDAD4B2-6D72-68E9-CD10-7F06B3FF66CC}"/>
              </a:ext>
            </a:extLst>
          </p:cNvPr>
          <p:cNvSpPr/>
          <p:nvPr/>
        </p:nvSpPr>
        <p:spPr>
          <a:xfrm>
            <a:off x="149098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A242CE87-DE41-8410-8963-4C97E06C282E}"/>
              </a:ext>
            </a:extLst>
          </p:cNvPr>
          <p:cNvSpPr/>
          <p:nvPr/>
        </p:nvSpPr>
        <p:spPr>
          <a:xfrm>
            <a:off x="150241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A5F4B074-3D9A-B553-93D9-652E094990DA}"/>
              </a:ext>
            </a:extLst>
          </p:cNvPr>
          <p:cNvSpPr/>
          <p:nvPr/>
        </p:nvSpPr>
        <p:spPr>
          <a:xfrm>
            <a:off x="151384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8BB4CAA0-56E9-5481-B610-7E0B35E4BB13}"/>
              </a:ext>
            </a:extLst>
          </p:cNvPr>
          <p:cNvSpPr/>
          <p:nvPr/>
        </p:nvSpPr>
        <p:spPr>
          <a:xfrm>
            <a:off x="15252700" y="56134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A5C0E85C-0C92-9C61-44E0-D271C259C39E}"/>
              </a:ext>
            </a:extLst>
          </p:cNvPr>
          <p:cNvSpPr/>
          <p:nvPr/>
        </p:nvSpPr>
        <p:spPr>
          <a:xfrm>
            <a:off x="15367000" y="56134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571DC472-4DA7-669E-A687-6D7C1145AB28}"/>
              </a:ext>
            </a:extLst>
          </p:cNvPr>
          <p:cNvSpPr/>
          <p:nvPr/>
        </p:nvSpPr>
        <p:spPr>
          <a:xfrm>
            <a:off x="15481300" y="56134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C531A25C-69B4-AEAC-8E6C-C35E9E77EAB4}"/>
              </a:ext>
            </a:extLst>
          </p:cNvPr>
          <p:cNvSpPr/>
          <p:nvPr/>
        </p:nvSpPr>
        <p:spPr>
          <a:xfrm>
            <a:off x="149098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90C38863-BC8B-9793-4C1D-349544CB98BB}"/>
              </a:ext>
            </a:extLst>
          </p:cNvPr>
          <p:cNvSpPr/>
          <p:nvPr/>
        </p:nvSpPr>
        <p:spPr>
          <a:xfrm>
            <a:off x="150241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001D5724-9DED-00D3-E239-87C323C6DD1A}"/>
              </a:ext>
            </a:extLst>
          </p:cNvPr>
          <p:cNvSpPr/>
          <p:nvPr/>
        </p:nvSpPr>
        <p:spPr>
          <a:xfrm>
            <a:off x="151384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1AD53260-D22A-DE44-9F8C-1C8FD50637D2}"/>
              </a:ext>
            </a:extLst>
          </p:cNvPr>
          <p:cNvSpPr/>
          <p:nvPr/>
        </p:nvSpPr>
        <p:spPr>
          <a:xfrm>
            <a:off x="152527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7DC8285E-B4F5-835D-7232-8EB779E50A85}"/>
              </a:ext>
            </a:extLst>
          </p:cNvPr>
          <p:cNvSpPr/>
          <p:nvPr/>
        </p:nvSpPr>
        <p:spPr>
          <a:xfrm>
            <a:off x="153670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024D7CC3-D2BF-1E29-3E27-A730222E7017}"/>
              </a:ext>
            </a:extLst>
          </p:cNvPr>
          <p:cNvSpPr/>
          <p:nvPr/>
        </p:nvSpPr>
        <p:spPr>
          <a:xfrm>
            <a:off x="15481300" y="57277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965EB84D-845A-A2ED-9A86-A9A4A4022D39}"/>
              </a:ext>
            </a:extLst>
          </p:cNvPr>
          <p:cNvSpPr/>
          <p:nvPr/>
        </p:nvSpPr>
        <p:spPr>
          <a:xfrm>
            <a:off x="14909800" y="5842000"/>
            <a:ext cx="114300" cy="114300"/>
          </a:xfrm>
          <a:prstGeom prst="rect">
            <a:avLst/>
          </a:prstGeom>
          <a:solidFill>
            <a:srgbClr val="1E822D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8F03CEA6-D0BE-368E-C2FA-EDE2D742F3B5}"/>
              </a:ext>
            </a:extLst>
          </p:cNvPr>
          <p:cNvSpPr/>
          <p:nvPr/>
        </p:nvSpPr>
        <p:spPr>
          <a:xfrm>
            <a:off x="150241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410C872C-100F-2BA8-0893-FBC15BE2501F}"/>
              </a:ext>
            </a:extLst>
          </p:cNvPr>
          <p:cNvSpPr/>
          <p:nvPr/>
        </p:nvSpPr>
        <p:spPr>
          <a:xfrm>
            <a:off x="151384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16073D49-B3C7-041B-BA21-CD3ACFCFD50D}"/>
              </a:ext>
            </a:extLst>
          </p:cNvPr>
          <p:cNvSpPr/>
          <p:nvPr/>
        </p:nvSpPr>
        <p:spPr>
          <a:xfrm>
            <a:off x="152527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3503F4A3-E40A-324F-4C92-7E8FCF89CF68}"/>
              </a:ext>
            </a:extLst>
          </p:cNvPr>
          <p:cNvSpPr/>
          <p:nvPr/>
        </p:nvSpPr>
        <p:spPr>
          <a:xfrm>
            <a:off x="153670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A6BB923F-44E8-FF50-2838-E0F28F39E6D5}"/>
              </a:ext>
            </a:extLst>
          </p:cNvPr>
          <p:cNvSpPr/>
          <p:nvPr/>
        </p:nvSpPr>
        <p:spPr>
          <a:xfrm>
            <a:off x="15481300" y="58420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3F266615-7C32-D456-43C1-D4AE9480E7E1}"/>
              </a:ext>
            </a:extLst>
          </p:cNvPr>
          <p:cNvSpPr/>
          <p:nvPr/>
        </p:nvSpPr>
        <p:spPr>
          <a:xfrm>
            <a:off x="149098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E374A9DF-84BB-1404-DB04-B76C5ECA501C}"/>
              </a:ext>
            </a:extLst>
          </p:cNvPr>
          <p:cNvSpPr/>
          <p:nvPr/>
        </p:nvSpPr>
        <p:spPr>
          <a:xfrm>
            <a:off x="150241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AE017B23-158F-8AF2-DA17-78727C621CAB}"/>
              </a:ext>
            </a:extLst>
          </p:cNvPr>
          <p:cNvSpPr/>
          <p:nvPr/>
        </p:nvSpPr>
        <p:spPr>
          <a:xfrm>
            <a:off x="151384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89E25327-AA8F-94E7-079D-30999B3D7EE9}"/>
              </a:ext>
            </a:extLst>
          </p:cNvPr>
          <p:cNvSpPr/>
          <p:nvPr/>
        </p:nvSpPr>
        <p:spPr>
          <a:xfrm>
            <a:off x="152527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B7321AE1-7513-7F5E-58A8-D13626FFC814}"/>
              </a:ext>
            </a:extLst>
          </p:cNvPr>
          <p:cNvSpPr/>
          <p:nvPr/>
        </p:nvSpPr>
        <p:spPr>
          <a:xfrm>
            <a:off x="153670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68A7540C-4013-A6FC-0883-C6C30C2AE0C9}"/>
              </a:ext>
            </a:extLst>
          </p:cNvPr>
          <p:cNvSpPr/>
          <p:nvPr/>
        </p:nvSpPr>
        <p:spPr>
          <a:xfrm>
            <a:off x="15481300" y="5956300"/>
            <a:ext cx="114300" cy="114300"/>
          </a:xfrm>
          <a:prstGeom prst="rect">
            <a:avLst/>
          </a:prstGeom>
          <a:solidFill>
            <a:srgbClr val="FFFFFF"/>
          </a:solidFill>
          <a:ln w="4445">
            <a:solidFill>
              <a:srgbClr val="AAC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椭圆 338">
            <a:extLst>
              <a:ext uri="{FF2B5EF4-FFF2-40B4-BE49-F238E27FC236}">
                <a16:creationId xmlns:a16="http://schemas.microsoft.com/office/drawing/2014/main" id="{1F26E8D3-61BE-D780-9AA1-418969B30D89}"/>
              </a:ext>
            </a:extLst>
          </p:cNvPr>
          <p:cNvSpPr/>
          <p:nvPr/>
        </p:nvSpPr>
        <p:spPr>
          <a:xfrm>
            <a:off x="14744700" y="54102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287ADFBD-7956-FD7F-82CE-34F61841DB6C}"/>
              </a:ext>
            </a:extLst>
          </p:cNvPr>
          <p:cNvSpPr/>
          <p:nvPr/>
        </p:nvSpPr>
        <p:spPr>
          <a:xfrm>
            <a:off x="14744700" y="55499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椭圆 340">
            <a:extLst>
              <a:ext uri="{FF2B5EF4-FFF2-40B4-BE49-F238E27FC236}">
                <a16:creationId xmlns:a16="http://schemas.microsoft.com/office/drawing/2014/main" id="{3D9A596A-1D77-1342-694A-8E5B3044A269}"/>
              </a:ext>
            </a:extLst>
          </p:cNvPr>
          <p:cNvSpPr/>
          <p:nvPr/>
        </p:nvSpPr>
        <p:spPr>
          <a:xfrm>
            <a:off x="14744700" y="56896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63A43726-CCDE-91C3-BA88-2BBB78B9B3E8}"/>
              </a:ext>
            </a:extLst>
          </p:cNvPr>
          <p:cNvSpPr/>
          <p:nvPr/>
        </p:nvSpPr>
        <p:spPr>
          <a:xfrm>
            <a:off x="14744700" y="58293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椭圆 342">
            <a:extLst>
              <a:ext uri="{FF2B5EF4-FFF2-40B4-BE49-F238E27FC236}">
                <a16:creationId xmlns:a16="http://schemas.microsoft.com/office/drawing/2014/main" id="{823B31D0-A315-D772-5D89-821C1AFFF3E5}"/>
              </a:ext>
            </a:extLst>
          </p:cNvPr>
          <p:cNvSpPr/>
          <p:nvPr/>
        </p:nvSpPr>
        <p:spPr>
          <a:xfrm>
            <a:off x="14744700" y="5969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椭圆 343">
            <a:extLst>
              <a:ext uri="{FF2B5EF4-FFF2-40B4-BE49-F238E27FC236}">
                <a16:creationId xmlns:a16="http://schemas.microsoft.com/office/drawing/2014/main" id="{A6F062AC-E847-4D3A-5244-AC7959397A0E}"/>
              </a:ext>
            </a:extLst>
          </p:cNvPr>
          <p:cNvSpPr/>
          <p:nvPr/>
        </p:nvSpPr>
        <p:spPr>
          <a:xfrm>
            <a:off x="149606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5" name="椭圆 344">
            <a:extLst>
              <a:ext uri="{FF2B5EF4-FFF2-40B4-BE49-F238E27FC236}">
                <a16:creationId xmlns:a16="http://schemas.microsoft.com/office/drawing/2014/main" id="{59829B77-1459-E972-44C5-897F34B8DAD7}"/>
              </a:ext>
            </a:extLst>
          </p:cNvPr>
          <p:cNvSpPr/>
          <p:nvPr/>
        </p:nvSpPr>
        <p:spPr>
          <a:xfrm>
            <a:off x="151257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978EFB34-D04D-FB9A-02E9-EC98691224DD}"/>
              </a:ext>
            </a:extLst>
          </p:cNvPr>
          <p:cNvSpPr/>
          <p:nvPr/>
        </p:nvSpPr>
        <p:spPr>
          <a:xfrm>
            <a:off x="152908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4750E038-6136-BF6B-44F3-9DF52A5094B0}"/>
              </a:ext>
            </a:extLst>
          </p:cNvPr>
          <p:cNvSpPr/>
          <p:nvPr/>
        </p:nvSpPr>
        <p:spPr>
          <a:xfrm>
            <a:off x="154559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椭圆 347">
            <a:extLst>
              <a:ext uri="{FF2B5EF4-FFF2-40B4-BE49-F238E27FC236}">
                <a16:creationId xmlns:a16="http://schemas.microsoft.com/office/drawing/2014/main" id="{B6F03012-D505-1A3C-E51D-878520A36335}"/>
              </a:ext>
            </a:extLst>
          </p:cNvPr>
          <p:cNvSpPr/>
          <p:nvPr/>
        </p:nvSpPr>
        <p:spPr>
          <a:xfrm>
            <a:off x="15621000" y="6223000"/>
            <a:ext cx="63500" cy="63500"/>
          </a:xfrm>
          <a:prstGeom prst="ellipse">
            <a:avLst/>
          </a:prstGeom>
          <a:solidFill>
            <a:srgbClr val="1880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E0641EAF-9819-572B-924A-987D5BACC05C}"/>
              </a:ext>
            </a:extLst>
          </p:cNvPr>
          <p:cNvCxnSpPr/>
          <p:nvPr/>
        </p:nvCxnSpPr>
        <p:spPr>
          <a:xfrm>
            <a:off x="16065500" y="5740400"/>
            <a:ext cx="825500" cy="0"/>
          </a:xfrm>
          <a:prstGeom prst="straightConnector1">
            <a:avLst/>
          </a:prstGeom>
          <a:ln w="1397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DBB08A5B-D431-91B8-5CD7-50BFBACE3230}"/>
              </a:ext>
            </a:extLst>
          </p:cNvPr>
          <p:cNvSpPr/>
          <p:nvPr/>
        </p:nvSpPr>
        <p:spPr>
          <a:xfrm>
            <a:off x="17043400" y="4546600"/>
            <a:ext cx="1524000" cy="9144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524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 b="1">
                <a:solidFill>
                  <a:srgbClr val="1E822D"/>
                </a:solidFill>
                <a:latin typeface="Arial" panose="020B0604020202020204" pitchFamily="34" charset="0"/>
              </a:rPr>
              <a:t>Contact prior statistics
c = [density, maxprob,
rnafocus, atomfocus]</a:t>
            </a:r>
            <a:endParaRPr lang="zh-CN" altLang="en-US" sz="9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4DE01AEB-9E47-1B05-9107-A52189B4DB9E}"/>
              </a:ext>
            </a:extLst>
          </p:cNvPr>
          <p:cNvCxnSpPr/>
          <p:nvPr/>
        </p:nvCxnSpPr>
        <p:spPr>
          <a:xfrm>
            <a:off x="17780000" y="5461000"/>
            <a:ext cx="0" cy="5715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FCDD8734-2C10-6FD2-89D9-BD38C47A7279}"/>
              </a:ext>
            </a:extLst>
          </p:cNvPr>
          <p:cNvCxnSpPr/>
          <p:nvPr/>
        </p:nvCxnSpPr>
        <p:spPr>
          <a:xfrm>
            <a:off x="15494000" y="6350000"/>
            <a:ext cx="0" cy="2540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矩形: 圆角 352">
            <a:extLst>
              <a:ext uri="{FF2B5EF4-FFF2-40B4-BE49-F238E27FC236}">
                <a16:creationId xmlns:a16="http://schemas.microsoft.com/office/drawing/2014/main" id="{11BC8F49-6CD5-A7BF-D5CE-61DF737BE743}"/>
              </a:ext>
            </a:extLst>
          </p:cNvPr>
          <p:cNvSpPr/>
          <p:nvPr/>
        </p:nvSpPr>
        <p:spPr>
          <a:xfrm>
            <a:off x="14528800" y="6604000"/>
            <a:ext cx="4000500" cy="1879600"/>
          </a:xfrm>
          <a:prstGeom prst="roundRect">
            <a:avLst>
              <a:gd name="adj" fmla="val 8000"/>
            </a:avLst>
          </a:prstGeom>
          <a:solidFill>
            <a:srgbClr val="F7F2FF"/>
          </a:solidFill>
          <a:ln w="1651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7F3CC582-3ED6-19B3-BD80-DFFB4C41F691}"/>
              </a:ext>
            </a:extLst>
          </p:cNvPr>
          <p:cNvSpPr txBox="1"/>
          <p:nvPr/>
        </p:nvSpPr>
        <p:spPr>
          <a:xfrm>
            <a:off x="15138400" y="6718300"/>
            <a:ext cx="2819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5E41AF"/>
                </a:solidFill>
                <a:latin typeface="Arial" panose="020B0604020202020204" pitchFamily="34" charset="0"/>
              </a:rPr>
              <a:t>Structural Contact Adapter (SCA)</a:t>
            </a:r>
            <a:endParaRPr lang="zh-CN" altLang="en-US" sz="14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5" name="矩形: 圆角 354">
            <a:extLst>
              <a:ext uri="{FF2B5EF4-FFF2-40B4-BE49-F238E27FC236}">
                <a16:creationId xmlns:a16="http://schemas.microsoft.com/office/drawing/2014/main" id="{98DC26A2-A974-9672-22E9-219D194C33E3}"/>
              </a:ext>
            </a:extLst>
          </p:cNvPr>
          <p:cNvSpPr/>
          <p:nvPr/>
        </p:nvSpPr>
        <p:spPr>
          <a:xfrm>
            <a:off x="14782800" y="7150100"/>
            <a:ext cx="3492500" cy="381000"/>
          </a:xfrm>
          <a:prstGeom prst="roundRect">
            <a:avLst>
              <a:gd name="adj" fmla="val 8000"/>
            </a:avLst>
          </a:prstGeom>
          <a:solidFill>
            <a:srgbClr val="FDFB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 b="1">
                <a:solidFill>
                  <a:srgbClr val="5E41AF"/>
                </a:solidFill>
                <a:latin typeface="Arial" panose="020B0604020202020204" pitchFamily="34" charset="0"/>
              </a:rPr>
              <a:t>1. Contact-prior gate
g = softmax(MLP_gate([H,c]))</a:t>
            </a:r>
            <a:endParaRPr lang="zh-CN" altLang="en-US" sz="9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6" name="矩形: 圆角 355">
            <a:extLst>
              <a:ext uri="{FF2B5EF4-FFF2-40B4-BE49-F238E27FC236}">
                <a16:creationId xmlns:a16="http://schemas.microsoft.com/office/drawing/2014/main" id="{FFCB80DC-9E6C-F6B7-2378-D6CF54720B89}"/>
              </a:ext>
            </a:extLst>
          </p:cNvPr>
          <p:cNvSpPr/>
          <p:nvPr/>
        </p:nvSpPr>
        <p:spPr>
          <a:xfrm>
            <a:off x="14782800" y="7670800"/>
            <a:ext cx="3492500" cy="381000"/>
          </a:xfrm>
          <a:prstGeom prst="roundRect">
            <a:avLst>
              <a:gd name="adj" fmla="val 8000"/>
            </a:avLst>
          </a:prstGeom>
          <a:solidFill>
            <a:srgbClr val="FDFB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900" b="1">
                <a:solidFill>
                  <a:srgbClr val="5E41AF"/>
                </a:solidFill>
                <a:latin typeface="Arial" panose="020B0604020202020204" pitchFamily="34" charset="0"/>
              </a:rPr>
              <a:t>2. View-level attention
H' = Attention(H,g)</a:t>
            </a:r>
            <a:endParaRPr lang="zh-CN" altLang="en-US" sz="9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7" name="矩形: 圆角 356">
            <a:extLst>
              <a:ext uri="{FF2B5EF4-FFF2-40B4-BE49-F238E27FC236}">
                <a16:creationId xmlns:a16="http://schemas.microsoft.com/office/drawing/2014/main" id="{45738AA9-FBB3-7595-E3CB-BF81569D9EC7}"/>
              </a:ext>
            </a:extLst>
          </p:cNvPr>
          <p:cNvSpPr/>
          <p:nvPr/>
        </p:nvSpPr>
        <p:spPr>
          <a:xfrm>
            <a:off x="14782800" y="8178800"/>
            <a:ext cx="3492500" cy="381000"/>
          </a:xfrm>
          <a:prstGeom prst="roundRect">
            <a:avLst>
              <a:gd name="adj" fmla="val 8000"/>
            </a:avLst>
          </a:prstGeom>
          <a:solidFill>
            <a:srgbClr val="FDFB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s-ES" altLang="zh-CN" sz="860" b="1">
                <a:solidFill>
                  <a:srgbClr val="5E41AF"/>
                </a:solidFill>
                <a:latin typeface="Arial" panose="020B0604020202020204" pitchFamily="34" charset="0"/>
              </a:rPr>
              <a:t>3. Residual correction
Delta y = MLP_res([z_contact,pool(H'),y_base])</a:t>
            </a:r>
            <a:endParaRPr lang="zh-CN" altLang="en-US" sz="86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58" name="文本框 357">
            <a:extLst>
              <a:ext uri="{FF2B5EF4-FFF2-40B4-BE49-F238E27FC236}">
                <a16:creationId xmlns:a16="http://schemas.microsoft.com/office/drawing/2014/main" id="{2B5D7F14-C8C4-475C-42EF-12EE45684DE4}"/>
              </a:ext>
            </a:extLst>
          </p:cNvPr>
          <p:cNvSpPr txBox="1"/>
          <p:nvPr/>
        </p:nvSpPr>
        <p:spPr>
          <a:xfrm>
            <a:off x="14566900" y="8623300"/>
            <a:ext cx="16764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C52B4"/>
                </a:solidFill>
                <a:latin typeface="Arial" panose="020B0604020202020204" pitchFamily="34" charset="0"/>
              </a:rPr>
              <a:t>Base affinity path
(preserved backbone)</a:t>
            </a:r>
            <a:endParaRPr lang="zh-CN" altLang="en-US" sz="9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956F97A1-ABE7-516B-114D-1DA0F7D4A1CF}"/>
              </a:ext>
            </a:extLst>
          </p:cNvPr>
          <p:cNvSpPr txBox="1"/>
          <p:nvPr/>
        </p:nvSpPr>
        <p:spPr>
          <a:xfrm>
            <a:off x="17043400" y="8623300"/>
            <a:ext cx="16764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5E41AF"/>
                </a:solidFill>
                <a:latin typeface="Arial" panose="020B0604020202020204" pitchFamily="34" charset="0"/>
              </a:rPr>
              <a:t>SCA output
(residual calibration)</a:t>
            </a:r>
            <a:endParaRPr lang="zh-CN" altLang="en-US" sz="9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sp>
        <p:nvSpPr>
          <p:cNvPr id="360" name="矩形: 圆角 359">
            <a:extLst>
              <a:ext uri="{FF2B5EF4-FFF2-40B4-BE49-F238E27FC236}">
                <a16:creationId xmlns:a16="http://schemas.microsoft.com/office/drawing/2014/main" id="{61A9AC8B-DBEC-A1C3-EED4-7B320F30AA72}"/>
              </a:ext>
            </a:extLst>
          </p:cNvPr>
          <p:cNvSpPr/>
          <p:nvPr/>
        </p:nvSpPr>
        <p:spPr>
          <a:xfrm>
            <a:off x="14820900" y="90678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1C52B4"/>
                </a:solidFill>
                <a:latin typeface="Arial" panose="020B0604020202020204" pitchFamily="34" charset="0"/>
              </a:rPr>
              <a:t>Affinity head
y_base</a:t>
            </a:r>
            <a:endParaRPr lang="zh-CN" altLang="en-US" sz="10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361" name="矩形: 圆角 360">
            <a:extLst>
              <a:ext uri="{FF2B5EF4-FFF2-40B4-BE49-F238E27FC236}">
                <a16:creationId xmlns:a16="http://schemas.microsoft.com/office/drawing/2014/main" id="{A6E927AD-0DFC-8F05-1803-F328DBDF81C0}"/>
              </a:ext>
            </a:extLst>
          </p:cNvPr>
          <p:cNvSpPr/>
          <p:nvPr/>
        </p:nvSpPr>
        <p:spPr>
          <a:xfrm>
            <a:off x="17018000" y="90678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FAF7FF"/>
          </a:solidFill>
          <a:ln w="12700">
            <a:solidFill>
              <a:srgbClr val="5E4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000" b="1">
                <a:solidFill>
                  <a:srgbClr val="5E41AF"/>
                </a:solidFill>
                <a:latin typeface="Arial" panose="020B0604020202020204" pitchFamily="34" charset="0"/>
              </a:rPr>
              <a:t>Residual correction
Delta y</a:t>
            </a:r>
            <a:endParaRPr lang="zh-CN" altLang="en-US" sz="1000" b="1">
              <a:solidFill>
                <a:srgbClr val="5E41AF"/>
              </a:solidFill>
              <a:latin typeface="Arial" panose="020B0604020202020204" pitchFamily="34" charset="0"/>
            </a:endParaRPr>
          </a:p>
        </p:txBody>
      </p:sp>
      <p:cxnSp>
        <p:nvCxnSpPr>
          <p:cNvPr id="362" name="直接箭头连接符 361">
            <a:extLst>
              <a:ext uri="{FF2B5EF4-FFF2-40B4-BE49-F238E27FC236}">
                <a16:creationId xmlns:a16="http://schemas.microsoft.com/office/drawing/2014/main" id="{BB3C342B-B98F-4E1F-AEAE-8047155DE5BD}"/>
              </a:ext>
            </a:extLst>
          </p:cNvPr>
          <p:cNvCxnSpPr/>
          <p:nvPr/>
        </p:nvCxnSpPr>
        <p:spPr>
          <a:xfrm>
            <a:off x="15494000" y="9601200"/>
            <a:ext cx="863600" cy="2413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0F6C9501-8997-4D7B-07B5-402CBD196511}"/>
              </a:ext>
            </a:extLst>
          </p:cNvPr>
          <p:cNvCxnSpPr/>
          <p:nvPr/>
        </p:nvCxnSpPr>
        <p:spPr>
          <a:xfrm flipH="1">
            <a:off x="16738600" y="9601200"/>
            <a:ext cx="939800" cy="241300"/>
          </a:xfrm>
          <a:prstGeom prst="straightConnector1">
            <a:avLst/>
          </a:prstGeom>
          <a:ln w="127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椭圆 363">
            <a:extLst>
              <a:ext uri="{FF2B5EF4-FFF2-40B4-BE49-F238E27FC236}">
                <a16:creationId xmlns:a16="http://schemas.microsoft.com/office/drawing/2014/main" id="{B35051BD-54E5-FCDB-03F5-CEBF4D18A362}"/>
              </a:ext>
            </a:extLst>
          </p:cNvPr>
          <p:cNvSpPr/>
          <p:nvPr/>
        </p:nvSpPr>
        <p:spPr>
          <a:xfrm>
            <a:off x="16357600" y="9664700"/>
            <a:ext cx="355600" cy="355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+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65" name="矩形: 圆角 364">
            <a:extLst>
              <a:ext uri="{FF2B5EF4-FFF2-40B4-BE49-F238E27FC236}">
                <a16:creationId xmlns:a16="http://schemas.microsoft.com/office/drawing/2014/main" id="{19BA54F9-74ED-B46B-0605-711B6565DF22}"/>
              </a:ext>
            </a:extLst>
          </p:cNvPr>
          <p:cNvSpPr/>
          <p:nvPr/>
        </p:nvSpPr>
        <p:spPr>
          <a:xfrm>
            <a:off x="15011400" y="10147300"/>
            <a:ext cx="317500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s-ES" altLang="zh-CN" sz="1000" b="1">
                <a:solidFill>
                  <a:srgbClr val="000000"/>
                </a:solidFill>
                <a:latin typeface="Arial" panose="020B0604020202020204" pitchFamily="34" charset="0"/>
              </a:rPr>
              <a:t>Final prediction:
y_hat = y_base + Delta y
Final pKd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66" name="矩形: 圆角 365">
            <a:extLst>
              <a:ext uri="{FF2B5EF4-FFF2-40B4-BE49-F238E27FC236}">
                <a16:creationId xmlns:a16="http://schemas.microsoft.com/office/drawing/2014/main" id="{4B312C22-1B5D-656F-5690-59AB58A6BE14}"/>
              </a:ext>
            </a:extLst>
          </p:cNvPr>
          <p:cNvSpPr/>
          <p:nvPr/>
        </p:nvSpPr>
        <p:spPr>
          <a:xfrm>
            <a:off x="101600" y="11112500"/>
            <a:ext cx="8572500" cy="889000"/>
          </a:xfrm>
          <a:prstGeom prst="roundRect">
            <a:avLst>
              <a:gd name="adj" fmla="val 8000"/>
            </a:avLst>
          </a:prstGeom>
          <a:solidFill>
            <a:srgbClr val="EFFDEF"/>
          </a:solidFill>
          <a:ln w="16510">
            <a:solidFill>
              <a:srgbClr val="1E8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500" b="1">
                <a:solidFill>
                  <a:srgbClr val="1E822D"/>
                </a:solidFill>
                <a:latin typeface="Arial" panose="020B0604020202020204" pitchFamily="34" charset="0"/>
              </a:rPr>
              <a:t>Stage 1: PDB contact pretraining
Input: RNA-ligand complex   |   Output: contact map   |   Loss: L_contact</a:t>
            </a:r>
            <a:endParaRPr lang="zh-CN" altLang="en-US" sz="1500" b="1">
              <a:solidFill>
                <a:srgbClr val="1E822D"/>
              </a:solidFill>
              <a:latin typeface="Arial" panose="020B0604020202020204" pitchFamily="34" charset="0"/>
            </a:endParaRPr>
          </a:p>
        </p:txBody>
      </p:sp>
      <p:cxnSp>
        <p:nvCxnSpPr>
          <p:cNvPr id="367" name="直接箭头连接符 366">
            <a:extLst>
              <a:ext uri="{FF2B5EF4-FFF2-40B4-BE49-F238E27FC236}">
                <a16:creationId xmlns:a16="http://schemas.microsoft.com/office/drawing/2014/main" id="{8DEE303E-17EC-21C0-EC54-64DE2B38DEEB}"/>
              </a:ext>
            </a:extLst>
          </p:cNvPr>
          <p:cNvCxnSpPr/>
          <p:nvPr/>
        </p:nvCxnSpPr>
        <p:spPr>
          <a:xfrm>
            <a:off x="8699500" y="11557000"/>
            <a:ext cx="508000" cy="0"/>
          </a:xfrm>
          <a:prstGeom prst="straightConnector1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矩形: 圆角 367">
            <a:extLst>
              <a:ext uri="{FF2B5EF4-FFF2-40B4-BE49-F238E27FC236}">
                <a16:creationId xmlns:a16="http://schemas.microsoft.com/office/drawing/2014/main" id="{D7CE6EDD-DE11-509A-B337-61D6DEE005B1}"/>
              </a:ext>
            </a:extLst>
          </p:cNvPr>
          <p:cNvSpPr/>
          <p:nvPr/>
        </p:nvSpPr>
        <p:spPr>
          <a:xfrm>
            <a:off x="9271000" y="11112500"/>
            <a:ext cx="9702800" cy="889000"/>
          </a:xfrm>
          <a:prstGeom prst="roundRect">
            <a:avLst>
              <a:gd name="adj" fmla="val 8000"/>
            </a:avLst>
          </a:prstGeom>
          <a:solidFill>
            <a:srgbClr val="F6FAFF"/>
          </a:solidFill>
          <a:ln w="16510">
            <a:solidFill>
              <a:srgbClr val="1C52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300" b="1">
                <a:solidFill>
                  <a:srgbClr val="1C52B4"/>
                </a:solidFill>
                <a:latin typeface="Arial" panose="020B0604020202020204" pitchFamily="34" charset="0"/>
              </a:rPr>
              <a:t>Stage 2: R-SIM affinity fine-tuning with SCA (affinity loss only)
Input: RNA sequence + ligand SMILES   |   Output: pKd   |   Loss: L_affinity
No contact labels required</a:t>
            </a:r>
            <a:endParaRPr lang="zh-CN" altLang="en-US" sz="1300" b="1">
              <a:solidFill>
                <a:srgbClr val="1C52B4"/>
              </a:solidFill>
              <a:latin typeface="Arial" panose="020B0604020202020204" pitchFamily="34" charset="0"/>
            </a:endParaRPr>
          </a:p>
        </p:txBody>
      </p:sp>
      <p:sp>
        <p:nvSpPr>
          <p:cNvPr id="369" name="矩形: 圆角 368">
            <a:extLst>
              <a:ext uri="{FF2B5EF4-FFF2-40B4-BE49-F238E27FC236}">
                <a16:creationId xmlns:a16="http://schemas.microsoft.com/office/drawing/2014/main" id="{EA49E88A-A793-2D0B-DFA9-8583BDD44351}"/>
              </a:ext>
            </a:extLst>
          </p:cNvPr>
          <p:cNvSpPr/>
          <p:nvPr/>
        </p:nvSpPr>
        <p:spPr>
          <a:xfrm>
            <a:off x="2413000" y="12293600"/>
            <a:ext cx="14224000" cy="482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zh-CN" altLang="en-US" sz="1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C9B4B2EE-7A67-BFDE-9A01-2025B40FECBD}"/>
              </a:ext>
            </a:extLst>
          </p:cNvPr>
          <p:cNvCxnSpPr/>
          <p:nvPr/>
        </p:nvCxnSpPr>
        <p:spPr>
          <a:xfrm>
            <a:off x="2921000" y="12534900"/>
            <a:ext cx="787400" cy="0"/>
          </a:xfrm>
          <a:prstGeom prst="straightConnector1">
            <a:avLst/>
          </a:prstGeom>
          <a:ln w="1524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文本框 370">
            <a:extLst>
              <a:ext uri="{FF2B5EF4-FFF2-40B4-BE49-F238E27FC236}">
                <a16:creationId xmlns:a16="http://schemas.microsoft.com/office/drawing/2014/main" id="{E5421726-656B-F1A9-3908-CB21E59E909E}"/>
              </a:ext>
            </a:extLst>
          </p:cNvPr>
          <p:cNvSpPr txBox="1"/>
          <p:nvPr/>
        </p:nvSpPr>
        <p:spPr>
          <a:xfrm>
            <a:off x="3860800" y="124206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414141"/>
                </a:solidFill>
                <a:latin typeface="Arial" panose="020B0604020202020204" pitchFamily="34" charset="0"/>
              </a:rPr>
              <a:t>Solid arrows = normal forward propagation</a:t>
            </a:r>
            <a:endParaRPr lang="zh-CN" altLang="en-US" sz="9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4BDC46CE-76F0-023E-1B8F-988F21308C97}"/>
              </a:ext>
            </a:extLst>
          </p:cNvPr>
          <p:cNvCxnSpPr/>
          <p:nvPr/>
        </p:nvCxnSpPr>
        <p:spPr>
          <a:xfrm>
            <a:off x="7429500" y="12534900"/>
            <a:ext cx="825500" cy="0"/>
          </a:xfrm>
          <a:prstGeom prst="straightConnector1">
            <a:avLst/>
          </a:prstGeom>
          <a:ln w="15240">
            <a:solidFill>
              <a:srgbClr val="41414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文本框 372">
            <a:extLst>
              <a:ext uri="{FF2B5EF4-FFF2-40B4-BE49-F238E27FC236}">
                <a16:creationId xmlns:a16="http://schemas.microsoft.com/office/drawing/2014/main" id="{71637131-DAEB-B0CE-8CBB-0FB7F8E3122B}"/>
              </a:ext>
            </a:extLst>
          </p:cNvPr>
          <p:cNvSpPr txBox="1"/>
          <p:nvPr/>
        </p:nvSpPr>
        <p:spPr>
          <a:xfrm>
            <a:off x="8407400" y="1242060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414141"/>
                </a:solidFill>
                <a:latin typeface="Arial" panose="020B0604020202020204" pitchFamily="34" charset="0"/>
              </a:rPr>
              <a:t>Dashed arrows = supervision / loss signal (Stage 1 only)</a:t>
            </a:r>
            <a:endParaRPr lang="zh-CN" altLang="en-US" sz="9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  <p:sp>
        <p:nvSpPr>
          <p:cNvPr id="374" name="椭圆 373">
            <a:extLst>
              <a:ext uri="{FF2B5EF4-FFF2-40B4-BE49-F238E27FC236}">
                <a16:creationId xmlns:a16="http://schemas.microsoft.com/office/drawing/2014/main" id="{3021E5FB-C799-A37A-BCA5-6BE702A035C2}"/>
              </a:ext>
            </a:extLst>
          </p:cNvPr>
          <p:cNvSpPr/>
          <p:nvPr/>
        </p:nvSpPr>
        <p:spPr>
          <a:xfrm>
            <a:off x="13271500" y="12407900"/>
            <a:ext cx="254000" cy="254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141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Arial" panose="020B0604020202020204" pitchFamily="34" charset="0"/>
              </a:rPr>
              <a:t>+</a:t>
            </a:r>
            <a:endParaRPr lang="zh-CN" altLang="en-US" sz="1200" b="1">
              <a:latin typeface="Arial" panose="020B0604020202020204" pitchFamily="34" charset="0"/>
            </a:endParaRPr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355AA0A4-8380-F207-597D-F42571D20FCE}"/>
              </a:ext>
            </a:extLst>
          </p:cNvPr>
          <p:cNvSpPr txBox="1"/>
          <p:nvPr/>
        </p:nvSpPr>
        <p:spPr>
          <a:xfrm>
            <a:off x="13627100" y="12420600"/>
            <a:ext cx="241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zh-CN" sz="900">
                <a:solidFill>
                  <a:srgbClr val="414141"/>
                </a:solidFill>
                <a:latin typeface="Arial" panose="020B0604020202020204" pitchFamily="34" charset="0"/>
              </a:rPr>
              <a:t>= residual addition (sum)</a:t>
            </a:r>
            <a:endParaRPr lang="zh-CN" altLang="en-US" sz="900">
              <a:solidFill>
                <a:srgbClr val="41414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7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1365</Words>
  <Application>Microsoft Office PowerPoint</Application>
  <PresentationFormat>自定义</PresentationFormat>
  <Paragraphs>132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3261109051@qq.com</dc:creator>
  <cp:lastModifiedBy>3261109051@qq.com</cp:lastModifiedBy>
  <cp:revision>6</cp:revision>
  <dcterms:created xsi:type="dcterms:W3CDTF">2026-06-18T07:17:25Z</dcterms:created>
  <dcterms:modified xsi:type="dcterms:W3CDTF">2026-06-18T08:17:38Z</dcterms:modified>
</cp:coreProperties>
</file>